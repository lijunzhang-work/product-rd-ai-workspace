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fc526d76714f0a" /><Relationship Type="http://schemas.openxmlformats.org/officeDocument/2006/relationships/extended-properties" Target="/docProps/app.xml" Id="R57b01919c9264b9e" /><Relationship Type="http://schemas.openxmlformats.org/officeDocument/2006/relationships/officeDocument" Target="/ppt/presentation.xml" Id="Re412a469f60849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aa58c0b5e499b"/>
  </p:sldMasterIdLst>
  <p:notesMasterIdLst>
    <p:notesMasterId xmlns:r="http://schemas.openxmlformats.org/officeDocument/2006/relationships" r:id="Ra6a52a46c28b47fb"/>
  </p:notesMasterIdLst>
  <p:sldIdLst>
    <p:sldId xmlns:r="http://schemas.openxmlformats.org/officeDocument/2006/relationships" id="256" r:id="R6a574e89284a4438"/>
    <p:sldId xmlns:r="http://schemas.openxmlformats.org/officeDocument/2006/relationships" id="257" r:id="R5f3e1536bb574f4b"/>
    <p:sldId xmlns:r="http://schemas.openxmlformats.org/officeDocument/2006/relationships" id="258" r:id="R56731cc23ebb4ade"/>
    <p:sldId xmlns:r="http://schemas.openxmlformats.org/officeDocument/2006/relationships" id="259" r:id="Rc40d820840d745bf"/>
    <p:sldId xmlns:r="http://schemas.openxmlformats.org/officeDocument/2006/relationships" id="260" r:id="Rd2d8702defc24ad0"/>
    <p:sldId xmlns:r="http://schemas.openxmlformats.org/officeDocument/2006/relationships" id="261" r:id="Rb933521876354ec0"/>
    <p:sldId xmlns:r="http://schemas.openxmlformats.org/officeDocument/2006/relationships" id="262" r:id="Rf114315ff0ad4b04"/>
    <p:sldId xmlns:r="http://schemas.openxmlformats.org/officeDocument/2006/relationships" id="263" r:id="R32c67f024e6c41d2"/>
    <p:sldId xmlns:r="http://schemas.openxmlformats.org/officeDocument/2006/relationships" id="264" r:id="R5543a0a7438a4661"/>
    <p:sldId xmlns:r="http://schemas.openxmlformats.org/officeDocument/2006/relationships" id="265" r:id="R01786bed48744a83"/>
    <p:sldId xmlns:r="http://schemas.openxmlformats.org/officeDocument/2006/relationships" id="266" r:id="Rd85ec4d0506f4cba"/>
    <p:sldId xmlns:r="http://schemas.openxmlformats.org/officeDocument/2006/relationships" id="267" r:id="R7923ffdd7b764128"/>
    <p:sldId xmlns:r="http://schemas.openxmlformats.org/officeDocument/2006/relationships" id="268" r:id="R6e719a381e244b65"/>
    <p:sldId xmlns:r="http://schemas.openxmlformats.org/officeDocument/2006/relationships" id="269" r:id="R70e3d234b76941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a6e25b8dcd4e1b" /><Relationship Type="http://schemas.openxmlformats.org/officeDocument/2006/relationships/slideMaster" Target="/ppt/slideMasters/slideMaster1.xml" Id="R7c0aa58c0b5e499b" /><Relationship Type="http://schemas.openxmlformats.org/officeDocument/2006/relationships/notesMaster" Target="/ppt/notesMasters/notesMaster1.xml" Id="Ra6a52a46c28b47fb" /><Relationship Type="http://schemas.openxmlformats.org/officeDocument/2006/relationships/presProps" Target="/ppt/presProps.xml" Id="R9fc7f54975ab4a59" /><Relationship Type="http://schemas.openxmlformats.org/officeDocument/2006/relationships/tableStyles" Target="/ppt/tableStyles.xml" Id="R9a759b0be04f4b7f" /><Relationship Type="http://schemas.openxmlformats.org/officeDocument/2006/relationships/slide" Target="/ppt/slides/slide1.xml" Id="R6a574e89284a4438" /><Relationship Type="http://schemas.openxmlformats.org/officeDocument/2006/relationships/slide" Target="/ppt/slides/slide2.xml" Id="R5f3e1536bb574f4b" /><Relationship Type="http://schemas.openxmlformats.org/officeDocument/2006/relationships/slide" Target="/ppt/slides/slide3.xml" Id="R56731cc23ebb4ade" /><Relationship Type="http://schemas.openxmlformats.org/officeDocument/2006/relationships/slide" Target="/ppt/slides/slide4.xml" Id="Rc40d820840d745bf" /><Relationship Type="http://schemas.openxmlformats.org/officeDocument/2006/relationships/slide" Target="/ppt/slides/slide5.xml" Id="Rd2d8702defc24ad0" /><Relationship Type="http://schemas.openxmlformats.org/officeDocument/2006/relationships/slide" Target="/ppt/slides/slide6.xml" Id="Rb933521876354ec0" /><Relationship Type="http://schemas.openxmlformats.org/officeDocument/2006/relationships/slide" Target="/ppt/slides/slide7.xml" Id="Rf114315ff0ad4b04" /><Relationship Type="http://schemas.openxmlformats.org/officeDocument/2006/relationships/slide" Target="/ppt/slides/slide8.xml" Id="R32c67f024e6c41d2" /><Relationship Type="http://schemas.openxmlformats.org/officeDocument/2006/relationships/slide" Target="/ppt/slides/slide9.xml" Id="R5543a0a7438a4661" /><Relationship Type="http://schemas.openxmlformats.org/officeDocument/2006/relationships/slide" Target="/ppt/slides/slide10.xml" Id="R01786bed48744a83" /><Relationship Type="http://schemas.openxmlformats.org/officeDocument/2006/relationships/slide" Target="/ppt/slides/slide11.xml" Id="Rd85ec4d0506f4cba" /><Relationship Type="http://schemas.openxmlformats.org/officeDocument/2006/relationships/slide" Target="/ppt/slides/slide12.xml" Id="R7923ffdd7b764128" /><Relationship Type="http://schemas.openxmlformats.org/officeDocument/2006/relationships/slide" Target="/ppt/slides/slide13.xml" Id="R6e719a381e244b65" /><Relationship Type="http://schemas.openxmlformats.org/officeDocument/2006/relationships/slide" Target="/ppt/slides/slide14.xml" Id="R70e3d234b76941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2ff3e1201e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痛点攻坚">
      <a:dk1>
        <a:srgbClr val="000000"/>
      </a:dk1>
      <a:lt1>
        <a:srgbClr val="FFFFFF"/>
      </a:lt1>
      <a:dk2>
        <a:srgbClr val="18232A"/>
      </a:dk2>
      <a:lt2>
        <a:srgbClr val="EAE4D9"/>
      </a:lt2>
      <a:accent1>
        <a:srgbClr val="C75132"/>
      </a:accent1>
      <a:accent2>
        <a:srgbClr val="3A6964"/>
      </a:accent2>
      <a:accent3>
        <a:srgbClr val="B59458"/>
      </a:accent3>
      <a:accent4>
        <a:srgbClr val="858E90"/>
      </a:accent4>
      <a:accent5>
        <a:srgbClr val="546A80"/>
      </a:accent5>
      <a:accent6>
        <a:srgbClr val="91836E"/>
      </a:accent6>
      <a:hlink>
        <a:srgbClr val="C75132"/>
      </a:hlink>
      <a:folHlink>
        <a:srgbClr val="3A696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痛点攻坚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812d64b2f4507" /><Relationship Type="http://schemas.openxmlformats.org/officeDocument/2006/relationships/notesMaster" Target="/ppt/notesMasters/notesMaster1.xml" Id="R1519925fd32c49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8ed4cf24414119" /><Relationship Type="http://schemas.openxmlformats.org/officeDocument/2006/relationships/notesMaster" Target="/ppt/notesMasters/notesMaster1.xml" Id="R5d76eaa9e8f9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8d7de574e47da" /><Relationship Type="http://schemas.openxmlformats.org/officeDocument/2006/relationships/notesMaster" Target="/ppt/notesMasters/notesMaster1.xml" Id="R94cdd383bdea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0de1b58fec4ed3" /><Relationship Type="http://schemas.openxmlformats.org/officeDocument/2006/relationships/notesMaster" Target="/ppt/notesMasters/notesMaster1.xml" Id="R55504ed27ae64d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92c67961fe492c" /><Relationship Type="http://schemas.openxmlformats.org/officeDocument/2006/relationships/notesMaster" Target="/ppt/notesMasters/notesMaster1.xml" Id="R09036dacf3c4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610722c8af42ba" /><Relationship Type="http://schemas.openxmlformats.org/officeDocument/2006/relationships/notesMaster" Target="/ppt/notesMasters/notesMaster1.xml" Id="R473b60d6aa4b42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313910e0dc4d34" /><Relationship Type="http://schemas.openxmlformats.org/officeDocument/2006/relationships/notesMaster" Target="/ppt/notesMasters/notesMaster1.xml" Id="Rf836cfb6e07644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0dda4581084781" /><Relationship Type="http://schemas.openxmlformats.org/officeDocument/2006/relationships/notesMaster" Target="/ppt/notesMasters/notesMaster1.xml" Id="R6d20d8db97cc4a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c1c4ffdf2047a1" /><Relationship Type="http://schemas.openxmlformats.org/officeDocument/2006/relationships/notesMaster" Target="/ppt/notesMasters/notesMaster1.xml" Id="Rd9cf6c980abb48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feb2c8a5c4df8" /><Relationship Type="http://schemas.openxmlformats.org/officeDocument/2006/relationships/notesMaster" Target="/ppt/notesMasters/notesMaster1.xml" Id="Re710fefc6ab743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f64397705d49a6" /><Relationship Type="http://schemas.openxmlformats.org/officeDocument/2006/relationships/notesMaster" Target="/ppt/notesMasters/notesMaster1.xml" Id="R0872000df75141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03b9c9820f49c7" /><Relationship Type="http://schemas.openxmlformats.org/officeDocument/2006/relationships/notesMaster" Target="/ppt/notesMasters/notesMaster1.xml" Id="Rf093f090e8ad46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70e9ffdc084cfe" /><Relationship Type="http://schemas.openxmlformats.org/officeDocument/2006/relationships/notesMaster" Target="/ppt/notesMasters/notesMaster1.xml" Id="Re91690c023824a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1abefa7a0a489d" /><Relationship Type="http://schemas.openxmlformats.org/officeDocument/2006/relationships/notesMaster" Target="/ppt/notesMasters/notesMaster1.xml" Id="R62c1d87609ff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主题沿用此前讨论的“痛点攻坚型 AI”。关注复杂需求开发后的行为验证、跨层关联与问题定位。汇报中的实践和设计按各自证据范围说明。封面为抽象概念视觉，不对应真实产品结构。定位来源：2026-09-18 关于流程提效型与瓶颈攻坚型 AI 的对话，以及原定位图 4F898AAD-AE0B-485E-8E97-28FEEA760486.jpeg。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这里概括用户描述的研发难点，不把它们当作已修复缺陷。用户在 2026-09-18 明确强调专业开发人员已有编码能力和 AI/Vibe Coding，关键痛点在复杂代码完成后的理解、验证和定位。复杂调度是代表业务背景，具体需求与现象在案例中补充。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/产品研发与测试_AI统一工作区/产品与EMAP事实探查/产品多核与BEH架构背景记录_v1.0_2026-09-17.md</a:t>
            </a:r>
          </a:p>
          <a:p xmlns:a="http://schemas.openxmlformats.org/drawingml/2006/main">
            <a:r>
              <a:t>/产品研发与测试_AI统一工作区/问题定位与修复/跨核崩溃复位与内存破坏_根因定位实施指南.md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此分类是用户此前讨论采用的工作定位，不是行业统一成熟度标准，也不评价同事路线高低。两张原定位图分别为 4F898AAD-AE0B-485E-8E97-28FEEA760486.jpeg 和 5136E8DA-C717-4147-AE95-9CBF5FB15F90.jpeg。删除旧图中未经当前证据确认的“技术闭环已经形成”和推广承诺。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/产品研发与测试_AI统一工作区/AI测试/图元行为测试/参考规范/BEH_FB全库发现与批量适配实施手册_基于8个FB基线_v1.0_2026-09-07.md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这是工作思路的演进，不表示四个阶段已依次全部完成。此前 VIDT 起源于他人的 MR，后因与当前需求交付无关停止投入；该历史不包装成用户完成的项目成果。当前保留的工作重点是代码行为审查、BEH、端到端与调度相关探查。单点能力和专题方法同时推进，验证范围见各页。依据 2026-09-18 用户关于项目演进的说明。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/产品研发与测试_AI统一工作区/AI测试/产品端到端/BEH_产品端到端测试融合_主窗口与多工具协作探索指南_v1.0_2026-09-16.md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已有资料记录产品侧 CodeQL 追踪独立跑通。部分节点值来自源码推算，不能写成板端当前实测。此处示例问题为案例组织方式，不是虚构某次具体缺陷。K01 补真实业务、版本、查询结果、涉及节点、分析前后认知变化和本人完成部分。代码行为恢复式审查的价值通过具体结论展示，不捏造审查发现数或节省时间。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/产品研发与测试_AI统一工作区/产品与EMAP事实探查/产品多核与BEH架构背景记录_v1.0_2026-09-17.md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个 FB 是资料中的历史接入基线，不是当前覆盖上限。用户曾反馈连续长时运行，当前持续时长、FB/CB 覆盖与失败情况需工作电脑补证。真实 Java 引擎执行与生成 C/C++、跨核通信、板端时序是不同验证范围。图元实际截图和输入输出可替换此页左上统计区或作为讲解附件。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/产品研发与测试_AI统一工作区/AI测试/图元行为测试/参考规范/BEH_FB全库发现与批量适配实施手册_基于8个FB基线_v1.0_2026-09-07.md</a:t>
            </a:r>
          </a:p>
          <a:p xmlns:a="http://schemas.openxmlformats.org/drawingml/2006/main">
            <a:r>
              <a:t>/产品研发与测试_AI统一工作区/AI图元与代码开发/参考规范/BEH_MCP_Phase1_Implementation_Guide_v1.0_2026-09-05.md</a:t>
            </a:r>
          </a:p>
          <a:p xmlns:a="http://schemas.openxmlformats.org/drawingml/2006/main">
            <a:r>
              <a:t>/产品研发与测试_AI统一工作区/AI测试/测试与解释融合/02_AI测试与解释融合_双环境实施指导_v1.0_2026-09-16.md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基础解释基本可用来自此前用户反馈；测试增强是设计规范，不能宣称已实机融合。增强解释需要匹配对象、版本、输入和有效的真实运行证据。预期独立于当前实现和输出，不能让 AI 按实现生成 Expected 再自证正确。专业表述与直白讲解共享同一事实。K03 补一段真实解释及对应测试报告。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/产品研发与测试_AI统一工作区/AI解释/00_AI解释_两档模式与测试增强规范.md</a:t>
            </a:r>
          </a:p>
          <a:p xmlns:a="http://schemas.openxmlformats.org/drawingml/2006/main">
            <a:r>
              <a:t>/产品研发与测试_AI统一工作区/AI测试/测试与解释融合/02_AI测试与解释融合_双环境实施指导_v1.0_2026-09-16.md</a:t>
            </a:r>
          </a:p>
          <a:p xmlns:a="http://schemas.openxmlformats.org/drawingml/2006/main">
            <a:r>
              <a:t>/产品研发与测试_AI统一工作区/AI图元与代码开发/参考规范/BEH_MCP_Phase1_Implementation_Guide_v1.0_2026-09-05.md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2026-09-13 v0.1.0 本地 Linux/Chromium 组件验证，非真实产品项目统计。30 次为 10 场景各 3 次独立重放；106 检查包含协议/执行/错误处理，不是 106 条真实业务用例。截图为 run_id 20260913T223004-d69b63cf371b，关键参数 Replay-004、PCS。该原运行 functional/path pass，但 visual not_checked、overall INCOMPLETE；随后独立视觉评估 assessed_ui_result PASS，certification 仍为 INCOMPLETE，未改写原始结果。展示的成果是可运行探路与重放组件、源码/安装包和证据；K04 核查工作电脑真实产品使用情况。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/产品研发与测试_AI统一工作区/AI测试/网页人工路径/03_实际验证报告_v0.1.0.md</a:t>
            </a:r>
          </a:p>
          <a:p xmlns:a="http://schemas.openxmlformats.org/drawingml/2006/main">
            <a:r>
              <a:t>/产品研发与测试_AI统一工作区/AI测试/网页人工路径/AI人工路径测试自动化_实测证据_v0.1.0.zip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这一页展示融合设计与已有单点能力的关系，不宣称所有工具已被同一主窗口自动串通。北向寄存器工具、南向 Python 模拟脚本和南向专用 RS-485 工具保持独立身份。BEH 连接产品后的实际计算、取值和本地引擎职责需要源码与运行核对。AI 图元开发单独包含创建、修改、连线、保存重载与真实验证，当前接入设计已有但整套执行待核查。网页工作台用于呈现对象、差异和回看证据，当前页面核查同 K05。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/产品研发与测试_AI统一工作区/AI测试/产品端到端/BEH_产品端到端测试融合_主窗口与多工具协作探索指南_v1.0_2026-09-16.md</a:t>
            </a:r>
          </a:p>
          <a:p xmlns:a="http://schemas.openxmlformats.org/drawingml/2006/main">
            <a:r>
              <a:t>/产品研发与测试_AI统一工作区/AI测试/测试与解释融合/02_AI测试与解释融合_双环境实施指导_v1.0_2026-09-16.md</a:t>
            </a:r>
          </a:p>
          <a:p xmlns:a="http://schemas.openxmlformats.org/drawingml/2006/main">
            <a:r>
              <a:t>/产品研发与测试_AI统一工作区/AI图元与代码开发/00_AI开发_模块入口与推进边界.md</a:t>
            </a:r>
          </a:p>
          <a:p xmlns:a="http://schemas.openxmlformats.org/drawingml/2006/main">
            <a:r>
              <a:t>/产品研发与测试_AI统一工作区/网页工作台/00_网页工作台_模块入口.md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调度专题已有 v1.0 实施方案。以专家候选为起点、真实构建和来源映射缩小范围，产品与 EMAP 分别查证，再核对交接；不把 90GB 仓库规模当全量阅读或建库任务。调度包括实际存在的业务任务/图元调度，不能用 Linux 线程事件替代业务任务流。目标成果包括运行机制、构建来源和边界三个视图。当前资料没有真实代码调查结论，K06 补工作电脑上已确认的机制、关键代码与尚未闭合的问题。崩溃/复位/内存破坏的方法设计可支持此类问题，但未声称根因已确定。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  <a:p xmlns:a="http://schemas.openxmlformats.org/drawingml/2006/main">
            <a:r>
              <a:t>/产品研发与测试_AI统一工作区/产品与EMAP事实探查/产品多核与BEH架构背景记录_v1.0_2026-09-17.md</a:t>
            </a:r>
          </a:p>
          <a:p xmlns:a="http://schemas.openxmlformats.org/drawingml/2006/main">
            <a:r>
              <a:t>/产品研发与测试_AI统一工作区/问题定位与修复/跨核崩溃复位与内存破坏_根因定位实施指南.md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这是本项目当前阶段的归纳，不是行业通用等级、不以百分比表达。单点已验证部分主要依据用户跑通记录与 HPT 实测；跨能力融合和调度探查已存在可执行设计，工作电脑最新实施状态仍需核查。没有把方案、脚本存在或资料整理升级为真实产品端到端完成。环境与工具规范作为支撑材料，避免把安装或文档数量列为核心创新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/产品研发与测试_AI统一工作区/AI测试/图元行为测试/参考规范/BEH_FB全库发现与批量适配实施手册_基于8个FB基线_v1.0_2026-09-07.md</a:t>
            </a:r>
          </a:p>
          <a:p xmlns:a="http://schemas.openxmlformats.org/drawingml/2006/main">
            <a:r>
              <a:t>/产品研发与测试_AI统一工作区/AI测试/网页人工路径/03_实际验证报告_v0.1.0.md</a:t>
            </a:r>
          </a:p>
          <a:p xmlns:a="http://schemas.openxmlformats.org/drawingml/2006/main">
            <a:r>
              <a:t>/产品研发与测试_AI统一工作区/AI测试/产品端到端/BEH_产品端到端测试融合_主窗口与多工具协作探索指南_v1.0_2026-09-16.md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  <a:p xmlns:a="http://schemas.openxmlformats.org/drawingml/2006/main">
            <a:r>
              <a:t>/产品研发与测试_AI统一工作区/Windows与WSL开发环境/02_多仓多镜像目标部署与迁移实施指南.md</a:t>
            </a:r>
          </a:p>
          <a:p xmlns:a="http://schemas.openxmlformats.org/drawingml/2006/main">
            <a:r>
              <a:t>/产品研发与测试_AI统一工作区/工具接入与共享能力/工具统一管理与使用指南.md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归纳用户在历史对话中明确推动的问题选择和技术设计：聚焦验证定位、复用成熟工具、测试增强解释、区分主机与板端、以运行过程组织调度探查。具体代码实现和集成由谁完成，以及已有团队能力的复用，需按 K07 用实际记录明确，不把全部底层工具能力归为个人原创。本人工作统计和实际收益待补证；不预设节省比例、获奖结论或新增推广承诺。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/产品研发与测试_AI统一工作区/AI解释/00_AI解释_两档模式与测试增强规范.md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  <a:p xmlns:a="http://schemas.openxmlformats.org/drawingml/2006/main">
            <a:r>
              <a:t>/产品研发与测试_AI统一工作区/工具接入与共享能力/工具统一管理与使用指南.md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K01–K04 是现有成果的核查与表达准备，优先取已有资料，不要求新增工程任务。公司证据无法外发时，可以在工作电脑补入经过允许的脱敏截图和结果描述。没有可外发证据不代表工作不存在，但对外展示应保留准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/产品研发与测试_AI统一工作区/工具接入与共享能力/00_共享能力_图元代码与信号观测.md</a:t>
            </a:r>
          </a:p>
          <a:p xmlns:a="http://schemas.openxmlformats.org/drawingml/2006/main">
            <a:r>
              <a:t>/产品研发与测试_AI统一工作区/AI测试/图元行为测试/参考规范/BEH_FB全库发现与批量适配实施手册_基于8个FB基线_v1.0_2026-09-07.md</a:t>
            </a:r>
          </a:p>
          <a:p xmlns:a="http://schemas.openxmlformats.org/drawingml/2006/main">
            <a:r>
              <a:t>/产品研发与测试_AI统一工作区/AI解释/00_AI解释_两档模式与测试增强规范.md</a:t>
            </a:r>
          </a:p>
          <a:p xmlns:a="http://schemas.openxmlformats.org/drawingml/2006/main">
            <a:r>
              <a:t>/产品研发与测试_AI统一工作区/AI测试/网页人工路径/03_实际验证报告_v0.1.0.md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不承诺新增任务、覆盖率、上线或推广日期。工作电脑上的仓库、构建、运行、调度调查和编辑接入成果可能超过资料记录，按实际结果更新。K07 同时核对归属与复用关系，避免将他人 MR 或团队现有系统包装为个人从零实现。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/产品研发与测试_AI统一工作区/AI测试/产品端到端/BEH_产品端到端测试融合_主窗口与多工具协作探索指南_v1.0_2026-09-16.md</a:t>
            </a:r>
          </a:p>
          <a:p xmlns:a="http://schemas.openxmlformats.org/drawingml/2006/main">
            <a:r>
              <a:t>/产品研发与测试_AI统一工作区/AI图元与代码开发/00_AI开发_模块入口与推进边界.md</a:t>
            </a:r>
          </a:p>
          <a:p xmlns:a="http://schemas.openxmlformats.org/drawingml/2006/main">
            <a:r>
              <a:t>/产品研发与测试_AI统一工作区/网页工作台/00_网页工作台_模块入口.md</a:t>
            </a:r>
          </a:p>
          <a:p xmlns:a="http://schemas.openxmlformats.org/drawingml/2006/main">
            <a:r>
              <a:t>/产品研发与测试_AI统一工作区/产品与EMAP事实探查/调度相关产品与EMAP代码联合探查方案_v1.0_2026-09-18.md</a:t>
            </a:r>
          </a:p>
          <a:p xmlns:a="http://schemas.openxmlformats.org/drawingml/2006/main">
            <a:r>
              <a:t>/产品研发与测试_AI统一工作区/问题定位与修复/跨核崩溃复位与内存破坏_根因定位实施指南.md</a:t>
            </a:r>
          </a:p>
          <a:p xmlns:a="http://schemas.openxmlformats.org/drawingml/2006/main">
            <a:r>
              <a:t>/产品研发与测试_AI统一工作区/Windows与WSL开发环境/02_多仓多镜像目标部署与迁移实施指南.md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6cc94e759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0fac9ae9546c4" /><Relationship Type="http://schemas.openxmlformats.org/officeDocument/2006/relationships/slideLayout" Target="/ppt/slideLayouts/slideLayout1.xml" Id="R260feebc127c49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0feebc127c49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痛点攻坚">
      <a:dk1>
        <a:srgbClr val="000000"/>
      </a:dk1>
      <a:lt1>
        <a:srgbClr val="FFFFFF"/>
      </a:lt1>
      <a:dk2>
        <a:srgbClr val="18232A"/>
      </a:dk2>
      <a:lt2>
        <a:srgbClr val="EAE4D9"/>
      </a:lt2>
      <a:accent1>
        <a:srgbClr val="C75132"/>
      </a:accent1>
      <a:accent2>
        <a:srgbClr val="3A6964"/>
      </a:accent2>
      <a:accent3>
        <a:srgbClr val="B59458"/>
      </a:accent3>
      <a:accent4>
        <a:srgbClr val="858E90"/>
      </a:accent4>
      <a:accent5>
        <a:srgbClr val="546A80"/>
      </a:accent5>
      <a:accent6>
        <a:srgbClr val="91836E"/>
      </a:accent6>
      <a:hlink>
        <a:srgbClr val="C75132"/>
      </a:hlink>
      <a:folHlink>
        <a:srgbClr val="3A696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痛点攻坚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567245c6b4ad7" /><Relationship Type="http://schemas.openxmlformats.org/officeDocument/2006/relationships/image" Target="/ppt/media/image.png" Id="Rdb0d035d0ef14857" /><Relationship Type="http://schemas.openxmlformats.org/officeDocument/2006/relationships/notesSlide" Target="/ppt/notesSlides/notesSlide1.xml" Id="Rd1b9418291f7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4c744f4d041af" /><Relationship Type="http://schemas.openxmlformats.org/officeDocument/2006/relationships/notesSlide" Target="/ppt/notesSlides/notesSlide2.xml" Id="R1891201b6809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5a06179440cb" /><Relationship Type="http://schemas.openxmlformats.org/officeDocument/2006/relationships/notesSlide" Target="/ppt/notesSlides/notesSlide3.xml" Id="Rb33a6e6e32e441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7293369d4477b" /><Relationship Type="http://schemas.openxmlformats.org/officeDocument/2006/relationships/notesSlide" Target="/ppt/notesSlides/notesSlide4.xml" Id="R966705b0490b47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98eb98ce54288" /><Relationship Type="http://schemas.openxmlformats.org/officeDocument/2006/relationships/notesSlide" Target="/ppt/notesSlides/notesSlide5.xml" Id="Rf1d1647bb2314e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6f885371843e7" /><Relationship Type="http://schemas.openxmlformats.org/officeDocument/2006/relationships/notesSlide" Target="/ppt/notesSlides/notesSlide6.xml" Id="Rfe0ac3814f644a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24fe125ce4f95" /><Relationship Type="http://schemas.openxmlformats.org/officeDocument/2006/relationships/notesSlide" Target="/ppt/notesSlides/notesSlide7.xml" Id="R4724941b59c7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9d5049d0348f8" /><Relationship Type="http://schemas.openxmlformats.org/officeDocument/2006/relationships/image" Target="/ppt/media/image2.png" Id="R5ce9d44bfb03496d" /><Relationship Type="http://schemas.openxmlformats.org/officeDocument/2006/relationships/notesSlide" Target="/ppt/notesSlides/notesSlide8.xml" Id="R9e4373206faf41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0889e89964d9f" /><Relationship Type="http://schemas.openxmlformats.org/officeDocument/2006/relationships/notesSlide" Target="/ppt/notesSlides/notesSlide9.xml" Id="R85ec303b161b41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f17af8b154be1" /><Relationship Type="http://schemas.openxmlformats.org/officeDocument/2006/relationships/notesSlide" Target="/ppt/notesSlides/notesSlide10.xml" Id="Rf69b81958ea248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fcec299094b2b" /><Relationship Type="http://schemas.openxmlformats.org/officeDocument/2006/relationships/notesSlide" Target="/ppt/notesSlides/notesSlide11.xml" Id="Rf6f5d904bfbc4d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704e897a14cd9" /><Relationship Type="http://schemas.openxmlformats.org/officeDocument/2006/relationships/notesSlide" Target="/ppt/notesSlides/notesSlide12.xml" Id="Re09cdf842e614a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ee5c52d984712" /><Relationship Type="http://schemas.openxmlformats.org/officeDocument/2006/relationships/notesSlide" Target="/ppt/notesSlides/notesSlide13.xml" Id="R379cf4e2060940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5768a8847411d" /><Relationship Type="http://schemas.openxmlformats.org/officeDocument/2006/relationships/notesSlide" Target="/ppt/notesSlides/notesSlide14.xml" Id="R0482a73b1193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d035d0ef148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技术创新成果展示">
            <a:extLst xmlns:a="http://schemas.openxmlformats.org/drawingml/2006/main">
              <a:ext uri="{FF2B5EF4-FFF2-40B4-BE49-F238E27FC236}">
                <a16:creationId xmlns:a16="http://schemas.microsoft.com/office/drawing/2014/main" id="{14A4B041-071C-40DA-AA44-C9F0927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09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技术创新成果展示</a:t>
            </a:r>
          </a:p>
        </p:txBody>
      </p:sp>
      <p:sp>
        <p:nvSpPr>
          <p:cNvPr id="3" name="痛点攻坚型 AI">
            <a:extLst xmlns:a="http://schemas.openxmlformats.org/drawingml/2006/main">
              <a:ext uri="{FF2B5EF4-FFF2-40B4-BE49-F238E27FC236}">
                <a16:creationId xmlns:a16="http://schemas.microsoft.com/office/drawing/2014/main" id="{FA3035AC-CB51-41B3-88F1-493BBE2E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4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痛点攻坚型 AI</a:t>
            </a:r>
          </a:p>
        </p:txBody>
      </p:sp>
      <p:sp>
        <p:nvSpPr>
          <p:cNvPr id="4" name="复杂产品研发中的&#10;分析、验证与定位实践">
            <a:extLst xmlns:a="http://schemas.openxmlformats.org/drawingml/2006/main">
              <a:ext uri="{FF2B5EF4-FFF2-40B4-BE49-F238E27FC236}">
                <a16:creationId xmlns:a16="http://schemas.microsoft.com/office/drawing/2014/main" id="{31852175-E082-458C-AB20-F2F62EA2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5905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复杂产品研发中的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30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分析、验证与定位实践</a:t>
            </a:r>
          </a:p>
        </p:txBody>
      </p:sp>
      <p:sp>
        <p:nvSpPr>
          <p:cNvPr id="5" name="代码行为审查  /  BEH 原生验证&#10;调度机制与跨层问题探查">
            <a:extLst xmlns:a="http://schemas.openxmlformats.org/drawingml/2006/main">
              <a:ext uri="{FF2B5EF4-FFF2-40B4-BE49-F238E27FC236}">
                <a16:creationId xmlns:a16="http://schemas.microsoft.com/office/drawing/2014/main" id="{6AA62CB5-1A37-4394-810C-CADA9FCA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19650"/>
            <a:ext cx="5657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代码行为审查  /  BEH 原生验证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调度机制与跨层问题探查</a:t>
            </a:r>
          </a:p>
        </p:txBody>
      </p:sp>
      <p:sp>
        <p:nvSpPr>
          <p:cNvPr id="6" name="2026.09">
            <a:extLst xmlns:a="http://schemas.openxmlformats.org/drawingml/2006/main">
              <a:ext uri="{FF2B5EF4-FFF2-40B4-BE49-F238E27FC236}">
                <a16:creationId xmlns:a16="http://schemas.microsoft.com/office/drawing/2014/main" id="{EEC7E356-9EEE-4669-857A-BCD1156A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91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56806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真实研发痛点">
            <a:extLst xmlns:a="http://schemas.openxmlformats.org/drawingml/2006/main">
              <a:ext uri="{FF2B5EF4-FFF2-40B4-BE49-F238E27FC236}">
                <a16:creationId xmlns:a16="http://schemas.microsoft.com/office/drawing/2014/main" id="{5B5AA434-616A-44DB-BC1C-25BE8EB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真实研发痛点</a:t>
            </a:r>
          </a:p>
        </p:txBody>
      </p:sp>
      <p:sp>
        <p:nvSpPr>
          <p:cNvPr id="2" name="代码写完之后，难题仍然存在">
            <a:extLst xmlns:a="http://schemas.openxmlformats.org/drawingml/2006/main">
              <a:ext uri="{FF2B5EF4-FFF2-40B4-BE49-F238E27FC236}">
                <a16:creationId xmlns:a16="http://schemas.microsoft.com/office/drawing/2014/main" id="{219A5A58-A43A-4569-9A20-81F133D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代码写完之后，难题仍然存在</a:t>
            </a:r>
          </a:p>
        </p:txBody>
      </p:sp>
      <p:sp>
        <p:nvSpPr>
          <p:cNvPr id="3" name="复杂调度需求，需要证明整条业务按预期工作">
            <a:extLst xmlns:a="http://schemas.openxmlformats.org/drawingml/2006/main">
              <a:ext uri="{FF2B5EF4-FFF2-40B4-BE49-F238E27FC236}">
                <a16:creationId xmlns:a16="http://schemas.microsoft.com/office/drawing/2014/main" id="{7710ADCC-A9B2-4791-B21D-7DBADC5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复杂调度需求，需要证明整条业务按预期工作</a:t>
            </a:r>
          </a:p>
        </p:txBody>
      </p:sp>
      <p:sp>
        <p:nvSpPr>
          <p:cNvPr id="4" name="验证难">
            <a:extLst xmlns:a="http://schemas.openxmlformats.org/drawingml/2006/main">
              <a:ext uri="{FF2B5EF4-FFF2-40B4-BE49-F238E27FC236}">
                <a16:creationId xmlns:a16="http://schemas.microsoft.com/office/drawing/2014/main" id="{3FE875C9-7F5F-435B-BEBA-34104D9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验证难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4E3C8-ACE3-4B6F-9BF8-E89628EC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6" name="改动之后，业务行为&#10;是否仍然符合预期？">
            <a:extLst xmlns:a="http://schemas.openxmlformats.org/drawingml/2006/main">
              <a:ext uri="{FF2B5EF4-FFF2-40B4-BE49-F238E27FC236}">
                <a16:creationId xmlns:a16="http://schemas.microsoft.com/office/drawing/2014/main" id="{18AAEFB1-557B-4D81-8BF9-D2919A9A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409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改动之后，业务行为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是否仍然符合预期？</a:t>
            </a:r>
          </a:p>
        </p:txBody>
      </p:sp>
      <p:sp>
        <p:nvSpPr>
          <p:cNvPr id="7" name="代码可编译、局部可运行，&#10;仍需要针对场景核对结果。">
            <a:extLst xmlns:a="http://schemas.openxmlformats.org/drawingml/2006/main">
              <a:ext uri="{FF2B5EF4-FFF2-40B4-BE49-F238E27FC236}">
                <a16:creationId xmlns:a16="http://schemas.microsoft.com/office/drawing/2014/main" id="{03E9D620-79E8-4381-9758-AEB212AD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代码可编译、局部可运行，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仍需要针对场景核对结果。</a:t>
            </a:r>
          </a:p>
        </p:txBody>
      </p:sp>
      <p:sp>
        <p:nvSpPr>
          <p:cNvPr id="8" name="关联难">
            <a:extLst xmlns:a="http://schemas.openxmlformats.org/drawingml/2006/main">
              <a:ext uri="{FF2B5EF4-FFF2-40B4-BE49-F238E27FC236}">
                <a16:creationId xmlns:a16="http://schemas.microsoft.com/office/drawing/2014/main" id="{54990E5A-139B-4B6F-871D-7F9A620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8130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关联难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4C6E3-E7F4-4FA7-BB28-2DFB05F4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4807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0" name="一个输入，怎样经过&#10;产品、图元与底层机制？">
            <a:extLst xmlns:a="http://schemas.openxmlformats.org/drawingml/2006/main">
              <a:ext uri="{FF2B5EF4-FFF2-40B4-BE49-F238E27FC236}">
                <a16:creationId xmlns:a16="http://schemas.microsoft.com/office/drawing/2014/main" id="{5D5ABB37-6D75-454A-86C2-C1A0BD15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76675"/>
            <a:ext cx="3409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一个输入，怎样经过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产品、图元与底层机制？</a:t>
            </a:r>
          </a:p>
        </p:txBody>
      </p:sp>
      <p:sp>
        <p:nvSpPr>
          <p:cNvPr id="11" name="代码、配置、执行位置和&#10;运行记录需要对应起来。">
            <a:extLst xmlns:a="http://schemas.openxmlformats.org/drawingml/2006/main">
              <a:ext uri="{FF2B5EF4-FFF2-40B4-BE49-F238E27FC236}">
                <a16:creationId xmlns:a16="http://schemas.microsoft.com/office/drawing/2014/main" id="{B51F7D80-D841-48F9-B574-7869A60B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48250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代码、配置、执行位置和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运行记录需要对应起来。</a:t>
            </a:r>
          </a:p>
        </p:txBody>
      </p:sp>
      <p:sp>
        <p:nvSpPr>
          <p:cNvPr id="12" name="定位难">
            <a:extLst xmlns:a="http://schemas.openxmlformats.org/drawingml/2006/main">
              <a:ext uri="{FF2B5EF4-FFF2-40B4-BE49-F238E27FC236}">
                <a16:creationId xmlns:a16="http://schemas.microsoft.com/office/drawing/2014/main" id="{9D1ACE3F-2DAC-4C88-82E1-79664136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定位难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EF9EB-30F9-4C2F-B8B9-45948F7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4" name="出现异常，怎样区分&#10;故障源头与最后现象？">
            <a:extLst xmlns:a="http://schemas.openxmlformats.org/drawingml/2006/main">
              <a:ext uri="{FF2B5EF4-FFF2-40B4-BE49-F238E27FC236}">
                <a16:creationId xmlns:a16="http://schemas.microsoft.com/office/drawing/2014/main" id="{3CDEB336-1BA5-4562-87D9-3990903E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409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出现异常，怎样区分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故障源头与最后现象？</a:t>
            </a:r>
          </a:p>
        </p:txBody>
      </p:sp>
      <p:sp>
        <p:nvSpPr>
          <p:cNvPr id="15" name="跨核、异步和版本差异，&#10;使最后一段日志难以解释全貌。">
            <a:extLst xmlns:a="http://schemas.openxmlformats.org/drawingml/2006/main">
              <a:ext uri="{FF2B5EF4-FFF2-40B4-BE49-F238E27FC236}">
                <a16:creationId xmlns:a16="http://schemas.microsoft.com/office/drawing/2014/main" id="{85540413-FFE0-4DA5-B51E-273D00D2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跨核、异步和版本差异，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使最后一段日志难以解释全貌。</a:t>
            </a:r>
          </a:p>
        </p:txBody>
      </p:sp>
      <p:sp>
        <p:nvSpPr>
          <p:cNvPr id="16" name="02">
            <a:extLst xmlns:a="http://schemas.openxmlformats.org/drawingml/2006/main">
              <a:ext uri="{FF2B5EF4-FFF2-40B4-BE49-F238E27FC236}">
                <a16:creationId xmlns:a16="http://schemas.microsoft.com/office/drawing/2014/main" id="{0C5105B1-E96D-4D0E-968A-17DEA6F0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2142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我的切入点：痛点攻坚型 AI">
            <a:extLst xmlns:a="http://schemas.openxmlformats.org/drawingml/2006/main">
              <a:ext uri="{FF2B5EF4-FFF2-40B4-BE49-F238E27FC236}">
                <a16:creationId xmlns:a16="http://schemas.microsoft.com/office/drawing/2014/main" id="{6573C9D5-F9F2-4597-A693-0B238344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我的切入点：痛点攻坚型 AI</a:t>
            </a:r>
          </a:p>
        </p:txBody>
      </p:sp>
      <p:sp>
        <p:nvSpPr>
          <p:cNvPr id="2" name="流程提效型">
            <a:extLst xmlns:a="http://schemas.openxmlformats.org/drawingml/2006/main">
              <a:ext uri="{FF2B5EF4-FFF2-40B4-BE49-F238E27FC236}">
                <a16:creationId xmlns:a16="http://schemas.microsoft.com/office/drawing/2014/main" id="{04637429-0B65-40E9-B9E7-D5E9FB4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41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流程提效型</a:t>
            </a:r>
          </a:p>
        </p:txBody>
      </p:sp>
      <p:sp>
        <p:nvSpPr>
          <p:cNvPr id="3" name="让已有开发活动更规范">
            <a:extLst xmlns:a="http://schemas.openxmlformats.org/drawingml/2006/main">
              <a:ext uri="{FF2B5EF4-FFF2-40B4-BE49-F238E27FC236}">
                <a16:creationId xmlns:a16="http://schemas.microsoft.com/office/drawing/2014/main" id="{77696BDD-0F2F-4BD8-B085-DC2CB3C9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4419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让已有开发活动更规范</a:t>
            </a:r>
          </a:p>
        </p:txBody>
      </p:sp>
      <p:sp>
        <p:nvSpPr>
          <p:cNvPr id="4" name="需求、设计、编码、测试的组织&#10;协作一致性与过程可追溯">
            <a:extLst xmlns:a="http://schemas.openxmlformats.org/drawingml/2006/main">
              <a:ext uri="{FF2B5EF4-FFF2-40B4-BE49-F238E27FC236}">
                <a16:creationId xmlns:a16="http://schemas.microsoft.com/office/drawing/2014/main" id="{006C794C-C231-4E1F-A461-6C517A90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419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需求、设计、编码、测试的组织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协作一致性与过程可追溯</a:t>
            </a:r>
          </a:p>
        </p:txBody>
      </p:sp>
      <p:sp>
        <p:nvSpPr>
          <p:cNvPr id="5" name="痛点攻坚型">
            <a:extLst xmlns:a="http://schemas.openxmlformats.org/drawingml/2006/main">
              <a:ext uri="{FF2B5EF4-FFF2-40B4-BE49-F238E27FC236}">
                <a16:creationId xmlns:a16="http://schemas.microsoft.com/office/drawing/2014/main" id="{57CC0CE6-C9B9-48F8-A6D2-0509AF2C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669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痛点攻坚型</a:t>
            </a:r>
          </a:p>
        </p:txBody>
      </p:sp>
      <p:sp>
        <p:nvSpPr>
          <p:cNvPr id="6" name="让复杂问题有可执行的验证方法">
            <a:extLst xmlns:a="http://schemas.openxmlformats.org/drawingml/2006/main">
              <a:ext uri="{FF2B5EF4-FFF2-40B4-BE49-F238E27FC236}">
                <a16:creationId xmlns:a16="http://schemas.microsoft.com/office/drawing/2014/main" id="{AD41A4B2-0117-4297-978F-B9944630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67025"/>
            <a:ext cx="5429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让复杂问题有可执行的验证方法</a:t>
            </a:r>
          </a:p>
        </p:txBody>
      </p:sp>
      <p:sp>
        <p:nvSpPr>
          <p:cNvPr id="7" name="代码行为能否核对？&#10;原生图元能否自动测试？&#10;跨层异常能否沿证据继续追查？">
            <a:extLst xmlns:a="http://schemas.openxmlformats.org/drawingml/2006/main">
              <a:ext uri="{FF2B5EF4-FFF2-40B4-BE49-F238E27FC236}">
                <a16:creationId xmlns:a16="http://schemas.microsoft.com/office/drawing/2014/main" id="{7DD62DE6-1948-4B06-B10A-74D0F69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5429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代码行为能否核对？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原生图元能否自动测试？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跨层异常能否沿证据继续追查？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38BB2-3776-41AC-8481-81B9DBC4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9" name="两种路线相互补充。本项目聚焦复杂研发中的验证与定位瓶颈。">
            <a:extLst xmlns:a="http://schemas.openxmlformats.org/drawingml/2006/main">
              <a:ext uri="{FF2B5EF4-FFF2-40B4-BE49-F238E27FC236}">
                <a16:creationId xmlns:a16="http://schemas.microsoft.com/office/drawing/2014/main" id="{E2E10A2F-D116-4DCD-8864-F3D1D67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两种路线相互补充。本项目聚焦复杂研发中的验证与定位瓶颈。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5DD1FBC1-0084-4DE3-9388-4138E6E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3878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2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项目演进">
            <a:extLst xmlns:a="http://schemas.openxmlformats.org/drawingml/2006/main">
              <a:ext uri="{FF2B5EF4-FFF2-40B4-BE49-F238E27FC236}">
                <a16:creationId xmlns:a16="http://schemas.microsoft.com/office/drawing/2014/main" id="{6A413968-3B6F-4D17-8A43-F7AFD056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D994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D99478"/>
                </a:solidFill>
                <a:latin typeface="Noto Sans CJK SC"/>
                <a:ea typeface="Noto Sans CJK SC"/>
                <a:cs typeface="Noto Sans CJK SC"/>
              </a:rPr>
              <a:t>项目演进</a:t>
            </a:r>
          </a:p>
        </p:txBody>
      </p:sp>
      <p:sp>
        <p:nvSpPr>
          <p:cNvPr id="2" name="工作方向随真实问题逐层深入">
            <a:extLst xmlns:a="http://schemas.openxmlformats.org/drawingml/2006/main">
              <a:ext uri="{FF2B5EF4-FFF2-40B4-BE49-F238E27FC236}">
                <a16:creationId xmlns:a16="http://schemas.microsoft.com/office/drawing/2014/main" id="{6E1054C0-5A78-4299-A9AD-1DBD605D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工作方向随真实问题逐层深入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CE516B5-84F4-448B-9697-00E7A2F1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700" b="1">
                <a:solidFill>
                  <a:srgbClr val="8E9D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8E9D9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AI 辅助开发">
            <a:extLst xmlns:a="http://schemas.openxmlformats.org/drawingml/2006/main">
              <a:ext uri="{FF2B5EF4-FFF2-40B4-BE49-F238E27FC236}">
                <a16:creationId xmlns:a16="http://schemas.microsoft.com/office/drawing/2014/main" id="{E28D8776-F98D-4DC2-B51E-BBBAA7BA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辅助开发</a:t>
            </a:r>
          </a:p>
        </p:txBody>
      </p:sp>
      <p:sp>
        <p:nvSpPr>
          <p:cNvPr id="5" name="解决需求实现问题">
            <a:extLst xmlns:a="http://schemas.openxmlformats.org/drawingml/2006/main">
              <a:ext uri="{FF2B5EF4-FFF2-40B4-BE49-F238E27FC236}">
                <a16:creationId xmlns:a16="http://schemas.microsoft.com/office/drawing/2014/main" id="{FFAE868A-BEF0-4656-926E-2A0A970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38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解决需求实现问题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F63E34A2-5CE4-4028-A540-9689EE4D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700" b="1">
                <a:solidFill>
                  <a:srgbClr val="8E9D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8E9D9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行为审查与测试">
            <a:extLst xmlns:a="http://schemas.openxmlformats.org/drawingml/2006/main">
              <a:ext uri="{FF2B5EF4-FFF2-40B4-BE49-F238E27FC236}">
                <a16:creationId xmlns:a16="http://schemas.microsoft.com/office/drawing/2014/main" id="{DBBF6B12-96ED-4BF8-B7B9-4501F9A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行为审查与测试</a:t>
            </a:r>
          </a:p>
        </p:txBody>
      </p:sp>
      <p:sp>
        <p:nvSpPr>
          <p:cNvPr id="8" name="核对实际行为与预期">
            <a:extLst xmlns:a="http://schemas.openxmlformats.org/drawingml/2006/main">
              <a:ext uri="{FF2B5EF4-FFF2-40B4-BE49-F238E27FC236}">
                <a16:creationId xmlns:a16="http://schemas.microsoft.com/office/drawing/2014/main" id="{AAF45E9D-DCFB-4169-B8AA-4769DC74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33875"/>
            <a:ext cx="2438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核对实际行为与预期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4E70848-7983-4F85-9D52-279A7585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700" b="1">
                <a:solidFill>
                  <a:srgbClr val="8E9D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8E9D9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0" name="端到端关联">
            <a:extLst xmlns:a="http://schemas.openxmlformats.org/drawingml/2006/main">
              <a:ext uri="{FF2B5EF4-FFF2-40B4-BE49-F238E27FC236}">
                <a16:creationId xmlns:a16="http://schemas.microsoft.com/office/drawing/2014/main" id="{D2D46134-DAE8-484E-B12D-F3B80CB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端到端关联</a:t>
            </a:r>
          </a:p>
        </p:txBody>
      </p:sp>
      <p:sp>
        <p:nvSpPr>
          <p:cNvPr id="11" name="解释跨工具的业务结果">
            <a:extLst xmlns:a="http://schemas.openxmlformats.org/drawingml/2006/main">
              <a:ext uri="{FF2B5EF4-FFF2-40B4-BE49-F238E27FC236}">
                <a16:creationId xmlns:a16="http://schemas.microsoft.com/office/drawing/2014/main" id="{6F113D0E-AD53-4CB4-B97E-7F77AD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2438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解释跨工具的业务结果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FB21B46A-B139-4F1B-AA6C-A6F6A815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145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700" b="1">
                <a:solidFill>
                  <a:srgbClr val="E99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E9977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3" name="调度机制探查">
            <a:extLst xmlns:a="http://schemas.openxmlformats.org/drawingml/2006/main">
              <a:ext uri="{FF2B5EF4-FFF2-40B4-BE49-F238E27FC236}">
                <a16:creationId xmlns:a16="http://schemas.microsoft.com/office/drawing/2014/main" id="{A6E9A5F6-3E57-491D-96EF-F34AB391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调度机制探查</a:t>
            </a:r>
          </a:p>
        </p:txBody>
      </p:sp>
      <p:sp>
        <p:nvSpPr>
          <p:cNvPr id="14" name="研究执行与状态交接">
            <a:extLst xmlns:a="http://schemas.openxmlformats.org/drawingml/2006/main">
              <a:ext uri="{FF2B5EF4-FFF2-40B4-BE49-F238E27FC236}">
                <a16:creationId xmlns:a16="http://schemas.microsoft.com/office/drawing/2014/main" id="{1817D255-70AE-4FB6-AD3F-EED97439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33875"/>
            <a:ext cx="2438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研究执行与状态交接</a:t>
            </a:r>
          </a:p>
        </p:txBody>
      </p:sp>
      <p:sp>
        <p:nvSpPr>
          <p:cNvPr id="15" name="每深入一层，都在回答上一层尚未解释清楚的问题">
            <a:extLst xmlns:a="http://schemas.openxmlformats.org/drawingml/2006/main">
              <a:ext uri="{FF2B5EF4-FFF2-40B4-BE49-F238E27FC236}">
                <a16:creationId xmlns:a16="http://schemas.microsoft.com/office/drawing/2014/main" id="{A0AD303F-E7DC-422E-A42D-7AFCED5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每深入一层，都在回答上一层尚未解释清楚的问题</a:t>
            </a:r>
          </a:p>
        </p:txBody>
      </p:sp>
      <p:sp>
        <p:nvSpPr>
          <p:cNvPr id="16" name="单点能力已有运行记录，跨能力融合与调度专题处于不同的验证范围">
            <a:extLst xmlns:a="http://schemas.openxmlformats.org/drawingml/2006/main">
              <a:ext uri="{FF2B5EF4-FFF2-40B4-BE49-F238E27FC236}">
                <a16:creationId xmlns:a16="http://schemas.microsoft.com/office/drawing/2014/main" id="{476FB8CD-DAD4-4FB5-96C4-80EC3AC8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23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rPr>
              <a:t>单点能力已有运行记录，跨能力融合与调度专题处于不同的验证范围</a:t>
            </a:r>
          </a:p>
        </p:txBody>
      </p:sp>
      <p:sp>
        <p:nvSpPr>
          <p:cNvPr id="17" name="04">
            <a:extLst xmlns:a="http://schemas.openxmlformats.org/drawingml/2006/main">
              <a:ext uri="{FF2B5EF4-FFF2-40B4-BE49-F238E27FC236}">
                <a16:creationId xmlns:a16="http://schemas.microsoft.com/office/drawing/2014/main" id="{70F442F9-F6DE-4B85-AE66-1369D701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5074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代表实践 01">
            <a:extLst xmlns:a="http://schemas.openxmlformats.org/drawingml/2006/main">
              <a:ext uri="{FF2B5EF4-FFF2-40B4-BE49-F238E27FC236}">
                <a16:creationId xmlns:a16="http://schemas.microsoft.com/office/drawing/2014/main" id="{88003B47-23BD-4133-818E-FF31D096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代表实践 01</a:t>
            </a:r>
          </a:p>
        </p:txBody>
      </p:sp>
      <p:sp>
        <p:nvSpPr>
          <p:cNvPr id="2" name="代码行为审查：把业务行为落到代码依据">
            <a:extLst xmlns:a="http://schemas.openxmlformats.org/drawingml/2006/main">
              <a:ext uri="{FF2B5EF4-FFF2-40B4-BE49-F238E27FC236}">
                <a16:creationId xmlns:a16="http://schemas.microsoft.com/office/drawing/2014/main" id="{C5D7BBED-5B8E-430B-8ACE-0739BAC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代码行为审查：把业务行为落到代码依据</a:t>
            </a:r>
          </a:p>
        </p:txBody>
      </p:sp>
      <p:sp>
        <p:nvSpPr>
          <p:cNvPr id="3" name="产品侧 CodeQL 代码追踪已跑通">
            <a:extLst xmlns:a="http://schemas.openxmlformats.org/drawingml/2006/main">
              <a:ext uri="{FF2B5EF4-FFF2-40B4-BE49-F238E27FC236}">
                <a16:creationId xmlns:a16="http://schemas.microsoft.com/office/drawing/2014/main" id="{A62B0CA0-E606-4E7C-BF82-1A097DB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产品侧 CodeQL 代码追踪已跑通</a:t>
            </a:r>
          </a:p>
        </p:txBody>
      </p:sp>
      <p:sp>
        <p:nvSpPr>
          <p:cNvPr id="4" name="一个参数，&#10;为何在这里改变？">
            <a:extLst xmlns:a="http://schemas.openxmlformats.org/drawingml/2006/main">
              <a:ext uri="{FF2B5EF4-FFF2-40B4-BE49-F238E27FC236}">
                <a16:creationId xmlns:a16="http://schemas.microsoft.com/office/drawing/2014/main" id="{D08FB6D6-C325-4E4E-A4A7-8AA0CD2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391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一个参数，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30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为何在这里改变？</a:t>
            </a:r>
          </a:p>
        </p:txBody>
      </p:sp>
      <p:sp>
        <p:nvSpPr>
          <p:cNvPr id="5" name="沿入口、条件分支和状态写入追查。&#10;把涉及的代码位置与链路说明保留下来。">
            <a:extLst xmlns:a="http://schemas.openxmlformats.org/drawingml/2006/main">
              <a:ext uri="{FF2B5EF4-FFF2-40B4-BE49-F238E27FC236}">
                <a16:creationId xmlns:a16="http://schemas.microsoft.com/office/drawing/2014/main" id="{EC509E7F-1948-4E6A-ACCB-F588404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34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沿入口、条件分支和状态写入追查。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把涉及的代码位置与链路说明保留下来。</a:t>
            </a:r>
          </a:p>
        </p:txBody>
      </p:sp>
      <p:sp>
        <p:nvSpPr>
          <p:cNvPr id="6" name="分析要交代清楚">
            <a:extLst xmlns:a="http://schemas.openxmlformats.org/drawingml/2006/main">
              <a:ext uri="{FF2B5EF4-FFF2-40B4-BE49-F238E27FC236}">
                <a16:creationId xmlns:a16="http://schemas.microsoft.com/office/drawing/2014/main" id="{4E70EB91-DD2B-4E51-82DF-EB579A01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分析要交代清楚</a:t>
            </a:r>
          </a:p>
        </p:txBody>
      </p:sp>
      <p:sp>
        <p:nvSpPr>
          <p:cNvPr id="7" name="输入如何进入&#10;条件怎样改变行为&#10;状态由谁写入、谁来消费">
            <a:extLst xmlns:a="http://schemas.openxmlformats.org/drawingml/2006/main">
              <a:ext uri="{FF2B5EF4-FFF2-40B4-BE49-F238E27FC236}">
                <a16:creationId xmlns:a16="http://schemas.microsoft.com/office/drawing/2014/main" id="{8332BFD3-2369-4019-AE32-B97921D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48025"/>
            <a:ext cx="4572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输入如何进入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条件怎样改变行为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状态由谁写入、谁来消费</a:t>
            </a:r>
          </a:p>
        </p:txBody>
      </p:sp>
      <p:sp>
        <p:nvSpPr>
          <p:cNvPr id="8" name="待核查  K01：补入一条真实链路、关键代码截图，以及本次分析帮助确认的结论。">
            <a:extLst xmlns:a="http://schemas.openxmlformats.org/drawingml/2006/main">
              <a:ext uri="{FF2B5EF4-FFF2-40B4-BE49-F238E27FC236}">
                <a16:creationId xmlns:a16="http://schemas.microsoft.com/office/drawing/2014/main" id="{640BEFF0-E240-46BF-8053-777D9AED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23825" tIns="123825" rIns="123825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906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06000"/>
                </a:solidFill>
                <a:latin typeface="Noto Sans CJK SC"/>
                <a:ea typeface="Noto Sans CJK SC"/>
                <a:cs typeface="Noto Sans CJK SC"/>
              </a:rPr>
              <a:t>待核查  K01：补入一条真实链路、关键代码截图，以及本次分析帮助确认的结论。</a:t>
            </a:r>
          </a:p>
        </p:txBody>
      </p:sp>
      <p:sp>
        <p:nvSpPr>
          <p:cNvPr id="9" name="05">
            <a:extLst xmlns:a="http://schemas.openxmlformats.org/drawingml/2006/main">
              <a:ext uri="{FF2B5EF4-FFF2-40B4-BE49-F238E27FC236}">
                <a16:creationId xmlns:a16="http://schemas.microsoft.com/office/drawing/2014/main" id="{2054EDD6-67B9-42B3-BA88-2A59C2BB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5604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代表实践 02">
            <a:extLst xmlns:a="http://schemas.openxmlformats.org/drawingml/2006/main">
              <a:ext uri="{FF2B5EF4-FFF2-40B4-BE49-F238E27FC236}">
                <a16:creationId xmlns:a16="http://schemas.microsoft.com/office/drawing/2014/main" id="{CA93E612-9156-410E-A08B-F62A820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代表实践 02</a:t>
            </a:r>
          </a:p>
        </p:txBody>
      </p:sp>
      <p:sp>
        <p:nvSpPr>
          <p:cNvPr id="2" name="BEH 原生引擎中的自动化验证">
            <a:extLst xmlns:a="http://schemas.openxmlformats.org/drawingml/2006/main">
              <a:ext uri="{FF2B5EF4-FFF2-40B4-BE49-F238E27FC236}">
                <a16:creationId xmlns:a16="http://schemas.microsoft.com/office/drawing/2014/main" id="{54DD7A7E-F951-414E-8390-A40B4AC1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BEH 原生引擎中的自动化验证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E829E9B5-EF80-4051-AC7E-7FC159DE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1621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9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4" name="个真实 FB 的接入基线">
            <a:extLst xmlns:a="http://schemas.openxmlformats.org/drawingml/2006/main">
              <a:ext uri="{FF2B5EF4-FFF2-40B4-BE49-F238E27FC236}">
                <a16:creationId xmlns:a16="http://schemas.microsoft.com/office/drawing/2014/main" id="{34735839-3B05-4CAC-A5F3-B322320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24100"/>
            <a:ext cx="7981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个真实 FB 的接入基线</a:t>
            </a:r>
          </a:p>
        </p:txBody>
      </p:sp>
      <p:sp>
        <p:nvSpPr>
          <p:cNvPr id="5" name="2026-09-07 的已有记录，最新范围待核查">
            <a:extLst xmlns:a="http://schemas.openxmlformats.org/drawingml/2006/main">
              <a:ext uri="{FF2B5EF4-FFF2-40B4-BE49-F238E27FC236}">
                <a16:creationId xmlns:a16="http://schemas.microsoft.com/office/drawing/2014/main" id="{566CB2CC-75E6-4088-81D8-49A1A131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71825"/>
            <a:ext cx="790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2026-09-07 的已有记录，最新范围待核查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9404-CB51-40C9-935E-7ED5BCF5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7" name="接入真实执行">
            <a:extLst xmlns:a="http://schemas.openxmlformats.org/drawingml/2006/main">
              <a:ext uri="{FF2B5EF4-FFF2-40B4-BE49-F238E27FC236}">
                <a16:creationId xmlns:a16="http://schemas.microsoft.com/office/drawing/2014/main" id="{EA51B4E5-9D1C-4E37-B72D-0FA2772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接入真实执行</a:t>
            </a:r>
          </a:p>
        </p:txBody>
      </p:sp>
      <p:sp>
        <p:nvSpPr>
          <p:cNvPr id="8" name="复用 Java 引擎和现有 Runner，&#10;注入输入、运行并取得输出。">
            <a:extLst xmlns:a="http://schemas.openxmlformats.org/drawingml/2006/main">
              <a:ext uri="{FF2B5EF4-FFF2-40B4-BE49-F238E27FC236}">
                <a16:creationId xmlns:a16="http://schemas.microsoft.com/office/drawing/2014/main" id="{3D3AB5C9-B670-44C6-B2E5-98C02126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457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复用 Java 引擎和现有 Runner，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注入输入、运行并取得输出。</a:t>
            </a:r>
          </a:p>
        </p:txBody>
      </p:sp>
      <p:sp>
        <p:nvSpPr>
          <p:cNvPr id="9" name="组织连续验证">
            <a:extLst xmlns:a="http://schemas.openxmlformats.org/drawingml/2006/main">
              <a:ext uri="{FF2B5EF4-FFF2-40B4-BE49-F238E27FC236}">
                <a16:creationId xmlns:a16="http://schemas.microsoft.com/office/drawing/2014/main" id="{04B98B47-66BC-4E89-8E2B-FFDE26D6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67175"/>
            <a:ext cx="3362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组织连续验证</a:t>
            </a:r>
          </a:p>
        </p:txBody>
      </p:sp>
      <p:sp>
        <p:nvSpPr>
          <p:cNvPr id="10" name="支持连续自动运行。&#10;通过批次结果查看异常场景。">
            <a:extLst xmlns:a="http://schemas.openxmlformats.org/drawingml/2006/main">
              <a:ext uri="{FF2B5EF4-FFF2-40B4-BE49-F238E27FC236}">
                <a16:creationId xmlns:a16="http://schemas.microsoft.com/office/drawing/2014/main" id="{2D6DDE0A-6069-423B-ADF4-6D5EBB3F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67250"/>
            <a:ext cx="33623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支持连续自动运行。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通过批次结果查看异常场景。</a:t>
            </a:r>
          </a:p>
        </p:txBody>
      </p:sp>
      <p:sp>
        <p:nvSpPr>
          <p:cNvPr id="11" name="保留验证依据">
            <a:extLst xmlns:a="http://schemas.openxmlformats.org/drawingml/2006/main">
              <a:ext uri="{FF2B5EF4-FFF2-40B4-BE49-F238E27FC236}">
                <a16:creationId xmlns:a16="http://schemas.microsoft.com/office/drawing/2014/main" id="{C67ED86B-A66D-4280-98D2-845655A9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67175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保留验证依据</a:t>
            </a:r>
          </a:p>
        </p:txBody>
      </p:sp>
      <p:sp>
        <p:nvSpPr>
          <p:cNvPr id="12" name="实际输出与独立预期核对，&#10;区分已观测与符合预期。">
            <a:extLst xmlns:a="http://schemas.openxmlformats.org/drawingml/2006/main">
              <a:ext uri="{FF2B5EF4-FFF2-40B4-BE49-F238E27FC236}">
                <a16:creationId xmlns:a16="http://schemas.microsoft.com/office/drawing/2014/main" id="{773D86F7-5E0F-4D5E-930E-6CCFCF4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3162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实际输出与独立预期核对，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区分已观测与符合预期。</a:t>
            </a:r>
          </a:p>
        </p:txBody>
      </p:sp>
      <p:sp>
        <p:nvSpPr>
          <p:cNvPr id="13" name="待核查  K02：补一个图元实例、输入输出和运行报告，更新 FB／CB 范围。">
            <a:extLst xmlns:a="http://schemas.openxmlformats.org/drawingml/2006/main">
              <a:ext uri="{FF2B5EF4-FFF2-40B4-BE49-F238E27FC236}">
                <a16:creationId xmlns:a16="http://schemas.microsoft.com/office/drawing/2014/main" id="{78CAAED0-FF76-41AD-B000-CF3E0C38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23825" tIns="123825" rIns="123825" bIns="1238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906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06000"/>
                </a:solidFill>
                <a:latin typeface="Noto Sans CJK SC"/>
                <a:ea typeface="Noto Sans CJK SC"/>
                <a:cs typeface="Noto Sans CJK SC"/>
              </a:rPr>
              <a:t>待核查  K02：补一个图元实例、输入输出和运行报告，更新 FB／CB 范围。</a:t>
            </a:r>
          </a:p>
        </p:txBody>
      </p:sp>
      <p:sp>
        <p:nvSpPr>
          <p:cNvPr id="14" name="06">
            <a:extLst xmlns:a="http://schemas.openxmlformats.org/drawingml/2006/main">
              <a:ext uri="{FF2B5EF4-FFF2-40B4-BE49-F238E27FC236}">
                <a16:creationId xmlns:a16="http://schemas.microsoft.com/office/drawing/2014/main" id="{B3C740BA-1989-4F8C-BC7F-CE04E15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2118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技术设计">
            <a:extLst xmlns:a="http://schemas.openxmlformats.org/drawingml/2006/main">
              <a:ext uri="{FF2B5EF4-FFF2-40B4-BE49-F238E27FC236}">
                <a16:creationId xmlns:a16="http://schemas.microsoft.com/office/drawing/2014/main" id="{02948B45-2DAD-466E-B952-7AFFFA6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技术设计</a:t>
            </a:r>
          </a:p>
        </p:txBody>
      </p:sp>
      <p:sp>
        <p:nvSpPr>
          <p:cNvPr id="2" name="解释与测试的相互校验">
            <a:extLst xmlns:a="http://schemas.openxmlformats.org/drawingml/2006/main">
              <a:ext uri="{FF2B5EF4-FFF2-40B4-BE49-F238E27FC236}">
                <a16:creationId xmlns:a16="http://schemas.microsoft.com/office/drawing/2014/main" id="{192FB817-5947-4A0C-9C95-DE6CD7E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解释与测试的相互校验</a:t>
            </a:r>
          </a:p>
        </p:txBody>
      </p:sp>
      <p:sp>
        <p:nvSpPr>
          <p:cNvPr id="3" name="“它为什么这样运行？”">
            <a:extLst xmlns:a="http://schemas.openxmlformats.org/drawingml/2006/main">
              <a:ext uri="{FF2B5EF4-FFF2-40B4-BE49-F238E27FC236}">
                <a16:creationId xmlns:a16="http://schemas.microsoft.com/office/drawing/2014/main" id="{43ACC6D4-F0F2-4AFA-866B-DC1F2775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7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“它为什么这样运行？”</a:t>
            </a:r>
          </a:p>
        </p:txBody>
      </p:sp>
      <p:sp>
        <p:nvSpPr>
          <p:cNvPr id="4" name="基础解释">
            <a:extLst xmlns:a="http://schemas.openxmlformats.org/drawingml/2006/main">
              <a:ext uri="{FF2B5EF4-FFF2-40B4-BE49-F238E27FC236}">
                <a16:creationId xmlns:a16="http://schemas.microsoft.com/office/drawing/2014/main" id="{375A76CF-8CF1-40ED-8B60-2975B05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6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基础解释</a:t>
            </a:r>
          </a:p>
        </p:txBody>
      </p:sp>
      <p:sp>
        <p:nvSpPr>
          <p:cNvPr id="5" name="由结构、源码和配置说明行为。&#10;已具备基础解释能力。">
            <a:extLst xmlns:a="http://schemas.openxmlformats.org/drawingml/2006/main">
              <a:ext uri="{FF2B5EF4-FFF2-40B4-BE49-F238E27FC236}">
                <a16:creationId xmlns:a16="http://schemas.microsoft.com/office/drawing/2014/main" id="{837332D6-68CB-4939-8F8E-870D37A5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610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由结构、源码和配置说明行为。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已具备基础解释能力。</a:t>
            </a:r>
          </a:p>
        </p:txBody>
      </p:sp>
      <p:sp>
        <p:nvSpPr>
          <p:cNvPr id="6" name="测试增强解释">
            <a:extLst xmlns:a="http://schemas.openxmlformats.org/drawingml/2006/main">
              <a:ext uri="{FF2B5EF4-FFF2-40B4-BE49-F238E27FC236}">
                <a16:creationId xmlns:a16="http://schemas.microsoft.com/office/drawing/2014/main" id="{1F740F56-B2E2-44F6-B3C7-36BA8E9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908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6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测试增强解释</a:t>
            </a:r>
          </a:p>
        </p:txBody>
      </p:sp>
      <p:sp>
        <p:nvSpPr>
          <p:cNvPr id="7" name="把关键结论对应到真实输入与结果。&#10;设计已明确，接入进展待核查。">
            <a:extLst xmlns:a="http://schemas.openxmlformats.org/drawingml/2006/main">
              <a:ext uri="{FF2B5EF4-FFF2-40B4-BE49-F238E27FC236}">
                <a16:creationId xmlns:a16="http://schemas.microsoft.com/office/drawing/2014/main" id="{05C5D08A-045D-4FE7-B504-8B3A263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4335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把关键结论对应到真实输入与结果。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设计已明确，接入进展待核查。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4C8D8-1005-4934-A839-C6FF070E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9" name="我的设计选择：让解释引用证据，让测试结果反过来修正解释。">
            <a:extLst xmlns:a="http://schemas.openxmlformats.org/drawingml/2006/main">
              <a:ext uri="{FF2B5EF4-FFF2-40B4-BE49-F238E27FC236}">
                <a16:creationId xmlns:a16="http://schemas.microsoft.com/office/drawing/2014/main" id="{F2D26E2F-1961-4268-89B3-2B5F6A5A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我的设计选择：让解释引用证据，让测试结果反过来修正解释。</a:t>
            </a:r>
          </a:p>
        </p:txBody>
      </p:sp>
      <p:sp>
        <p:nvSpPr>
          <p:cNvPr id="10" name="07">
            <a:extLst xmlns:a="http://schemas.openxmlformats.org/drawingml/2006/main">
              <a:ext uri="{FF2B5EF4-FFF2-40B4-BE49-F238E27FC236}">
                <a16:creationId xmlns:a16="http://schemas.microsoft.com/office/drawing/2014/main" id="{B0B03A7E-8A66-4861-8F33-062A6DFC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1560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代表实践 03">
            <a:extLst xmlns:a="http://schemas.openxmlformats.org/drawingml/2006/main">
              <a:ext uri="{FF2B5EF4-FFF2-40B4-BE49-F238E27FC236}">
                <a16:creationId xmlns:a16="http://schemas.microsoft.com/office/drawing/2014/main" id="{9D27538F-AD40-4687-9BBD-582B3B7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代表实践 03</a:t>
            </a:r>
          </a:p>
        </p:txBody>
      </p:sp>
      <p:sp>
        <p:nvSpPr>
          <p:cNvPr id="2" name="网页人工路径：探索一次，参数化重放">
            <a:extLst xmlns:a="http://schemas.openxmlformats.org/drawingml/2006/main">
              <a:ext uri="{FF2B5EF4-FFF2-40B4-BE49-F238E27FC236}">
                <a16:creationId xmlns:a16="http://schemas.microsoft.com/office/drawing/2014/main" id="{A15E827F-CA8D-4FC3-AF5E-63B248E2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网页人工路径：探索一次，参数化重放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BFCE1E8B-46AC-49A9-89B1-3407E624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352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3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3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4" name="次确定性功能重放">
            <a:extLst xmlns:a="http://schemas.openxmlformats.org/drawingml/2006/main">
              <a:ext uri="{FF2B5EF4-FFF2-40B4-BE49-F238E27FC236}">
                <a16:creationId xmlns:a16="http://schemas.microsoft.com/office/drawing/2014/main" id="{19D1443B-DE61-45FC-B5DD-3EBE2A6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3819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次确定性功能重放</a:t>
            </a:r>
          </a:p>
        </p:txBody>
      </p:sp>
      <p:sp>
        <p:nvSpPr>
          <p:cNvPr id="5" name="10 个场景，每个独立运行 3 次">
            <a:extLst xmlns:a="http://schemas.openxmlformats.org/drawingml/2006/main">
              <a:ext uri="{FF2B5EF4-FFF2-40B4-BE49-F238E27FC236}">
                <a16:creationId xmlns:a16="http://schemas.microsoft.com/office/drawing/2014/main" id="{E9EA4B7E-18D7-4CA9-97B1-61475E8F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379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10 个场景，每个独立运行 3 次</a:t>
            </a:r>
          </a:p>
        </p:txBody>
      </p:sp>
      <p:sp>
        <p:nvSpPr>
          <p:cNvPr id="6" name="106 项自动化检查&#10;8 类故障检查">
            <a:extLst xmlns:a="http://schemas.openxmlformats.org/drawingml/2006/main">
              <a:ext uri="{FF2B5EF4-FFF2-40B4-BE49-F238E27FC236}">
                <a16:creationId xmlns:a16="http://schemas.microsoft.com/office/drawing/2014/main" id="{E5D580D1-231A-414A-B4BC-D32926C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3819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106 项自动化检查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8 类故障检查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9d44bfb03496d"/>
          <a:srcRect xmlns:a="http://schemas.openxmlformats.org/drawingml/2006/main" l="0" t="7860" r="0" b="7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1962150"/>
            <a:ext cx="6686550" cy="3962400"/>
          </a:xfrm>
          <a:prstGeom xmlns:a="http://schemas.openxmlformats.org/drawingml/2006/main" prst="rect">
            <a:avLst/>
          </a:prstGeom>
        </p:spPr>
      </p:pic>
      <p:sp>
        <p:nvSpPr>
          <p:cNvPr id="8" name="重放参数：Replay-004 / PCS&#10;保存并刷新后，记录仍可查到">
            <a:extLst xmlns:a="http://schemas.openxmlformats.org/drawingml/2006/main">
              <a:ext uri="{FF2B5EF4-FFF2-40B4-BE49-F238E27FC236}">
                <a16:creationId xmlns:a16="http://schemas.microsoft.com/office/drawing/2014/main" id="{D7D78A7E-9804-4DCF-BFB1-14CF3C9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610100"/>
            <a:ext cx="6000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85725" tIns="85725" rIns="85725" bIns="857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重放参数：Replay-004 / PCS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保存并刷新后，记录仍可查到</a:t>
            </a:r>
          </a:p>
        </p:txBody>
      </p:sp>
      <p:sp>
        <p:nvSpPr>
          <p:cNvPr id="9" name="本地演示环境，2026-09-13。真实产品应用与效果待核查 K04。">
            <a:extLst xmlns:a="http://schemas.openxmlformats.org/drawingml/2006/main">
              <a:ext uri="{FF2B5EF4-FFF2-40B4-BE49-F238E27FC236}">
                <a16:creationId xmlns:a16="http://schemas.microsoft.com/office/drawing/2014/main" id="{AEA1438C-AC9C-41D3-A182-4AD2CB7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23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本地演示环境，2026-09-13。真实产品应用与效果待核查 K04。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87197C73-0C4D-4781-BB47-3B65A05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6668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端到端视角：围绕同一业务结果协作">
            <a:extLst xmlns:a="http://schemas.openxmlformats.org/drawingml/2006/main">
              <a:ext uri="{FF2B5EF4-FFF2-40B4-BE49-F238E27FC236}">
                <a16:creationId xmlns:a16="http://schemas.microsoft.com/office/drawing/2014/main" id="{4DFD2A44-4B2A-44CF-85EF-DCD13ED8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端到端视角：围绕同一业务结果协作</a:t>
            </a:r>
          </a:p>
        </p:txBody>
      </p:sp>
      <p:sp>
        <p:nvSpPr>
          <p:cNvPr id="2" name="同一个&#10;业务任务">
            <a:extLst xmlns:a="http://schemas.openxmlformats.org/drawingml/2006/main">
              <a:ext uri="{FF2B5EF4-FFF2-40B4-BE49-F238E27FC236}">
                <a16:creationId xmlns:a16="http://schemas.microsoft.com/office/drawing/2014/main" id="{8E465E9A-8802-4204-AA54-8D1D0981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同一个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5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业务任务</a:t>
            </a:r>
          </a:p>
        </p:txBody>
      </p:sp>
      <p:sp>
        <p:nvSpPr>
          <p:cNvPr id="3" name="输入设置、图元行为、&#10;外部输出和日志相互对应。">
            <a:extLst xmlns:a="http://schemas.openxmlformats.org/drawingml/2006/main">
              <a:ext uri="{FF2B5EF4-FFF2-40B4-BE49-F238E27FC236}">
                <a16:creationId xmlns:a16="http://schemas.microsoft.com/office/drawing/2014/main" id="{D602FC36-5320-405E-BC3B-FD5C816F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4124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输入设置、图元行为、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外部输出和日志相互对应。</a:t>
            </a:r>
          </a:p>
        </p:txBody>
      </p:sp>
      <p:sp>
        <p:nvSpPr>
          <p:cNvPr id="4" name="产品 Web">
            <a:extLst xmlns:a="http://schemas.openxmlformats.org/drawingml/2006/main">
              <a:ext uri="{FF2B5EF4-FFF2-40B4-BE49-F238E27FC236}">
                <a16:creationId xmlns:a16="http://schemas.microsoft.com/office/drawing/2014/main" id="{6286BC37-722D-42A7-9A86-FB460B60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859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产品 Web</a:t>
            </a:r>
          </a:p>
        </p:txBody>
      </p:sp>
      <p:sp>
        <p:nvSpPr>
          <p:cNvPr id="5" name="操作设置、导出日志">
            <a:extLst xmlns:a="http://schemas.openxmlformats.org/drawingml/2006/main">
              <a:ext uri="{FF2B5EF4-FFF2-40B4-BE49-F238E27FC236}">
                <a16:creationId xmlns:a16="http://schemas.microsoft.com/office/drawing/2014/main" id="{45947EE7-59E2-4487-814F-657107B7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574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操作设置、导出日志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25DF6-F6A9-44FF-BBBA-D5FDF2B8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19375"/>
            <a:ext cx="606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7" name="北向寄存器工具">
            <a:extLst xmlns:a="http://schemas.openxmlformats.org/drawingml/2006/main">
              <a:ext uri="{FF2B5EF4-FFF2-40B4-BE49-F238E27FC236}">
                <a16:creationId xmlns:a16="http://schemas.microsoft.com/office/drawing/2014/main" id="{E4AE10D8-13AF-4193-847E-7DC33AB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57475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北向寄存器工具</a:t>
            </a:r>
          </a:p>
        </p:txBody>
      </p:sp>
      <p:sp>
        <p:nvSpPr>
          <p:cNvPr id="8" name="核对读写与产品结果">
            <a:extLst xmlns:a="http://schemas.openxmlformats.org/drawingml/2006/main">
              <a:ext uri="{FF2B5EF4-FFF2-40B4-BE49-F238E27FC236}">
                <a16:creationId xmlns:a16="http://schemas.microsoft.com/office/drawing/2014/main" id="{6C8CD2AF-BE85-426C-893A-19AE0F4A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28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核对读写与产品结果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9477D-2CE5-484F-869B-0398FDE3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90900"/>
            <a:ext cx="606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0" name="南向模拟能力">
            <a:extLst xmlns:a="http://schemas.openxmlformats.org/drawingml/2006/main">
              <a:ext uri="{FF2B5EF4-FFF2-40B4-BE49-F238E27FC236}">
                <a16:creationId xmlns:a16="http://schemas.microsoft.com/office/drawing/2014/main" id="{A21AC5F6-817E-4A3B-84B7-1BEADF76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2900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南向模拟能力</a:t>
            </a:r>
          </a:p>
        </p:txBody>
      </p:sp>
      <p:sp>
        <p:nvSpPr>
          <p:cNvPr id="11" name="Python 脚本与专用 RS-485 工具">
            <a:extLst xmlns:a="http://schemas.openxmlformats.org/drawingml/2006/main">
              <a:ext uri="{FF2B5EF4-FFF2-40B4-BE49-F238E27FC236}">
                <a16:creationId xmlns:a16="http://schemas.microsoft.com/office/drawing/2014/main" id="{9AF538B6-9E53-445D-BABF-5544AD19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0047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Python 脚本与专用 RS-485 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A59FC-939E-420E-BF0A-310845DB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62425"/>
            <a:ext cx="606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3" name="BEH 图元">
            <a:extLst xmlns:a="http://schemas.openxmlformats.org/drawingml/2006/main">
              <a:ext uri="{FF2B5EF4-FFF2-40B4-BE49-F238E27FC236}">
                <a16:creationId xmlns:a16="http://schemas.microsoft.com/office/drawing/2014/main" id="{6502F703-4878-44AF-B1D3-99E9F56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200525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BEH 图元</a:t>
            </a:r>
          </a:p>
        </p:txBody>
      </p:sp>
      <p:sp>
        <p:nvSpPr>
          <p:cNvPr id="14" name="查看输入输出与 debug 值">
            <a:extLst xmlns:a="http://schemas.openxmlformats.org/drawingml/2006/main">
              <a:ext uri="{FF2B5EF4-FFF2-40B4-BE49-F238E27FC236}">
                <a16:creationId xmlns:a16="http://schemas.microsoft.com/office/drawing/2014/main" id="{B670495D-BAED-478B-9A37-DD751346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5720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查看输入输出与 debug 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D15FC-EE1E-40CB-8ABE-76C55621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933950"/>
            <a:ext cx="606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6" name="解释、定位与图元开发">
            <a:extLst xmlns:a="http://schemas.openxmlformats.org/drawingml/2006/main">
              <a:ext uri="{FF2B5EF4-FFF2-40B4-BE49-F238E27FC236}">
                <a16:creationId xmlns:a16="http://schemas.microsoft.com/office/drawing/2014/main" id="{11F9D8CD-54CB-422F-848C-980BE803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9720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解释、定位与图元开发</a:t>
            </a:r>
          </a:p>
        </p:txBody>
      </p:sp>
      <p:sp>
        <p:nvSpPr>
          <p:cNvPr id="17" name="解释运行原因，定位异常，验证图元改动">
            <a:extLst xmlns:a="http://schemas.openxmlformats.org/drawingml/2006/main">
              <a:ext uri="{FF2B5EF4-FFF2-40B4-BE49-F238E27FC236}">
                <a16:creationId xmlns:a16="http://schemas.microsoft.com/office/drawing/2014/main" id="{2C6E2DEB-540F-44BF-9878-A094F795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3435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解释运行原因，定位异常，验证图元改动</a:t>
            </a:r>
          </a:p>
        </p:txBody>
      </p:sp>
      <p:sp>
        <p:nvSpPr>
          <p:cNvPr id="18" name="已有单点能力与融合设计；实际联通范围、编辑操作和当前工作台待核查 K05。">
            <a:extLst xmlns:a="http://schemas.openxmlformats.org/drawingml/2006/main">
              <a:ext uri="{FF2B5EF4-FFF2-40B4-BE49-F238E27FC236}">
                <a16:creationId xmlns:a16="http://schemas.microsoft.com/office/drawing/2014/main" id="{855C990E-0CE1-4281-BBFD-8B59F6D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23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已有单点能力与融合设计；实际联通范围、编辑操作和当前工作台待核查 K05。</a:t>
            </a:r>
          </a:p>
        </p:txBody>
      </p:sp>
      <p:sp>
        <p:nvSpPr>
          <p:cNvPr id="19" name="09">
            <a:extLst xmlns:a="http://schemas.openxmlformats.org/drawingml/2006/main">
              <a:ext uri="{FF2B5EF4-FFF2-40B4-BE49-F238E27FC236}">
                <a16:creationId xmlns:a16="http://schemas.microsoft.com/office/drawing/2014/main" id="{8F224DCB-F7C4-4936-BCCB-7C7CF4FA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710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2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系统层面的攻坚">
            <a:extLst xmlns:a="http://schemas.openxmlformats.org/drawingml/2006/main">
              <a:ext uri="{FF2B5EF4-FFF2-40B4-BE49-F238E27FC236}">
                <a16:creationId xmlns:a16="http://schemas.microsoft.com/office/drawing/2014/main" id="{791D3B37-C3AD-4165-8DE5-A24A71C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D994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D99478"/>
                </a:solidFill>
                <a:latin typeface="Noto Sans CJK SC"/>
                <a:ea typeface="Noto Sans CJK SC"/>
                <a:cs typeface="Noto Sans CJK SC"/>
              </a:rPr>
              <a:t>系统层面的攻坚</a:t>
            </a:r>
          </a:p>
        </p:txBody>
      </p:sp>
      <p:sp>
        <p:nvSpPr>
          <p:cNvPr id="2" name="调度机制探查：深入业务执行的条件">
            <a:extLst xmlns:a="http://schemas.openxmlformats.org/drawingml/2006/main">
              <a:ext uri="{FF2B5EF4-FFF2-40B4-BE49-F238E27FC236}">
                <a16:creationId xmlns:a16="http://schemas.microsoft.com/office/drawing/2014/main" id="{866B8577-8D47-4F99-B2AA-9D4B3B8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调度机制探查：深入业务执行的条件</a:t>
            </a:r>
          </a:p>
        </p:txBody>
      </p:sp>
      <p:sp>
        <p:nvSpPr>
          <p:cNvPr id="3" name="谁决定执行？&#10;何时发生？&#10;状态如何交接？">
            <a:extLst xmlns:a="http://schemas.openxmlformats.org/drawingml/2006/main">
              <a:ext uri="{FF2B5EF4-FFF2-40B4-BE49-F238E27FC236}">
                <a16:creationId xmlns:a16="http://schemas.microsoft.com/office/drawing/2014/main" id="{18076C9B-8062-4FCE-8053-CA20918E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524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谁决定执行？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3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何时发生？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3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状态如何交接？</a:t>
            </a:r>
          </a:p>
        </p:txBody>
      </p:sp>
      <p:sp>
        <p:nvSpPr>
          <p:cNvPr id="4" name="产品代码 + 对应版本 EMAP">
            <a:extLst xmlns:a="http://schemas.openxmlformats.org/drawingml/2006/main">
              <a:ext uri="{FF2B5EF4-FFF2-40B4-BE49-F238E27FC236}">
                <a16:creationId xmlns:a16="http://schemas.microsoft.com/office/drawing/2014/main" id="{5C74B643-CE8B-4ED7-A014-9ADA8C8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66925"/>
            <a:ext cx="487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E99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E99774"/>
                </a:solidFill>
                <a:latin typeface="Noto Sans CJK SC"/>
                <a:ea typeface="Noto Sans CJK SC"/>
                <a:cs typeface="Noto Sans CJK SC"/>
              </a:rPr>
              <a:t>产品代码 + 对应版本 EMAP</a:t>
            </a:r>
          </a:p>
        </p:txBody>
      </p:sp>
      <p:sp>
        <p:nvSpPr>
          <p:cNvPr id="5" name="真实实现">
            <a:extLst xmlns:a="http://schemas.openxmlformats.org/drawingml/2006/main">
              <a:ext uri="{FF2B5EF4-FFF2-40B4-BE49-F238E27FC236}">
                <a16:creationId xmlns:a16="http://schemas.microsoft.com/office/drawing/2014/main" id="{CA1C2605-CE2D-4F5B-9775-42561959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146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真实实现</a:t>
            </a:r>
          </a:p>
        </p:txBody>
      </p:sp>
      <p:sp>
        <p:nvSpPr>
          <p:cNvPr id="6" name="核对配置、构建与产物来源">
            <a:extLst xmlns:a="http://schemas.openxmlformats.org/drawingml/2006/main">
              <a:ext uri="{FF2B5EF4-FFF2-40B4-BE49-F238E27FC236}">
                <a16:creationId xmlns:a16="http://schemas.microsoft.com/office/drawing/2014/main" id="{1E30C31A-41A1-4D8D-897D-27E9DBF5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核对配置、构建与产物来源</a:t>
            </a:r>
          </a:p>
        </p:txBody>
      </p:sp>
      <p:sp>
        <p:nvSpPr>
          <p:cNvPr id="7" name="运行过程">
            <a:extLst xmlns:a="http://schemas.openxmlformats.org/drawingml/2006/main">
              <a:ext uri="{FF2B5EF4-FFF2-40B4-BE49-F238E27FC236}">
                <a16:creationId xmlns:a16="http://schemas.microsoft.com/office/drawing/2014/main" id="{514B4C02-22F2-45AA-93E8-98643A51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671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运行过程</a:t>
            </a:r>
          </a:p>
        </p:txBody>
      </p:sp>
      <p:sp>
        <p:nvSpPr>
          <p:cNvPr id="8" name="追消息、回调与关键状态的读写">
            <a:extLst xmlns:a="http://schemas.openxmlformats.org/drawingml/2006/main">
              <a:ext uri="{FF2B5EF4-FFF2-40B4-BE49-F238E27FC236}">
                <a16:creationId xmlns:a16="http://schemas.microsoft.com/office/drawing/2014/main" id="{A5230639-B793-4687-9115-A9173F63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追消息、回调与关键状态的读写</a:t>
            </a:r>
          </a:p>
        </p:txBody>
      </p:sp>
      <p:sp>
        <p:nvSpPr>
          <p:cNvPr id="9" name="机制覆盖">
            <a:extLst xmlns:a="http://schemas.openxmlformats.org/drawingml/2006/main">
              <a:ext uri="{FF2B5EF4-FFF2-40B4-BE49-F238E27FC236}">
                <a16:creationId xmlns:a16="http://schemas.microsoft.com/office/drawing/2014/main" id="{CCF59323-9A7A-41FB-AB91-5CCE549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196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机制覆盖</a:t>
            </a:r>
          </a:p>
        </p:txBody>
      </p:sp>
      <p:sp>
        <p:nvSpPr>
          <p:cNvPr id="10" name="用不同代表过程核对触发与例外">
            <a:extLst xmlns:a="http://schemas.openxmlformats.org/drawingml/2006/main">
              <a:ext uri="{FF2B5EF4-FFF2-40B4-BE49-F238E27FC236}">
                <a16:creationId xmlns:a16="http://schemas.microsoft.com/office/drawing/2014/main" id="{E0D3A3A1-BA82-4B17-B41B-9B16B8C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387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7E5DE"/>
                </a:solidFill>
                <a:latin typeface="Noto Sans CJK SC"/>
                <a:ea typeface="Noto Sans CJK SC"/>
                <a:cs typeface="Noto Sans CJK SC"/>
              </a:rPr>
              <a:t>用不同代表过程核对触发与例外</a:t>
            </a:r>
          </a:p>
        </p:txBody>
      </p:sp>
      <p:sp>
        <p:nvSpPr>
          <p:cNvPr id="11" name="研究单位是实际运行过程，按证据扩展到相关模块">
            <a:extLst xmlns:a="http://schemas.openxmlformats.org/drawingml/2006/main">
              <a:ext uri="{FF2B5EF4-FFF2-40B4-BE49-F238E27FC236}">
                <a16:creationId xmlns:a16="http://schemas.microsoft.com/office/drawing/2014/main" id="{30877C67-F2E5-4321-BF4D-3CECB0EC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研究单位是实际运行过程，按证据扩展到相关模块</a:t>
            </a:r>
          </a:p>
        </p:txBody>
      </p:sp>
      <p:sp>
        <p:nvSpPr>
          <p:cNvPr id="12" name="专题实施方案已形成；实际调度机制与调查结论待核查 K06。">
            <a:extLst xmlns:a="http://schemas.openxmlformats.org/drawingml/2006/main">
              <a:ext uri="{FF2B5EF4-FFF2-40B4-BE49-F238E27FC236}">
                <a16:creationId xmlns:a16="http://schemas.microsoft.com/office/drawing/2014/main" id="{326E4B2F-8FD0-4E38-88A1-6F20EFB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23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rPr>
              <a:t>专题实施方案已形成；实际调度机制与调查结论待核查 K06。</a:t>
            </a:r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15B9DACE-BCAD-4E46-8D83-9A38360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AB3B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1439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当前阶段：单点验证已有基础，融合与探查并行">
            <a:extLst xmlns:a="http://schemas.openxmlformats.org/drawingml/2006/main">
              <a:ext uri="{FF2B5EF4-FFF2-40B4-BE49-F238E27FC236}">
                <a16:creationId xmlns:a16="http://schemas.microsoft.com/office/drawing/2014/main" id="{F9ADE7E0-BDDA-48A0-B0CD-E9373E0D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当前阶段：单点验证已有基础，融合与探查并行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D3C7B9F3-F099-4DE8-8D4A-55979E0E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3051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9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92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" name="已验证的基础">
            <a:extLst xmlns:a="http://schemas.openxmlformats.org/drawingml/2006/main">
              <a:ext uri="{FF2B5EF4-FFF2-40B4-BE49-F238E27FC236}">
                <a16:creationId xmlns:a16="http://schemas.microsoft.com/office/drawing/2014/main" id="{9766C487-6E1C-4A39-8B83-B2EA4E54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324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已验证的基础</a:t>
            </a:r>
          </a:p>
        </p:txBody>
      </p:sp>
      <p:sp>
        <p:nvSpPr>
          <p:cNvPr id="4" name="代码追踪、BEH 测试&#10;已分别跑通。&#10;网页路径已完成本地验证。">
            <a:extLst xmlns:a="http://schemas.openxmlformats.org/drawingml/2006/main">
              <a:ext uri="{FF2B5EF4-FFF2-40B4-BE49-F238E27FC236}">
                <a16:creationId xmlns:a16="http://schemas.microsoft.com/office/drawing/2014/main" id="{00010214-F03D-4ECA-B2D3-256402A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333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代码追踪、BEH 测试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已分别跑通。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网页路径已完成本地验证。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1A29F1D2-0870-4C34-9603-3618630E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57400"/>
            <a:ext cx="33051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925" b="1">
                <a:solidFill>
                  <a:srgbClr val="9399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925" b="1">
                <a:solidFill>
                  <a:srgbClr val="939995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正在组织的关联">
            <a:extLst xmlns:a="http://schemas.openxmlformats.org/drawingml/2006/main">
              <a:ext uri="{FF2B5EF4-FFF2-40B4-BE49-F238E27FC236}">
                <a16:creationId xmlns:a16="http://schemas.microsoft.com/office/drawing/2014/main" id="{36DC8C5C-2FA9-426A-A8EF-B1FD532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324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正在组织的关联</a:t>
            </a:r>
          </a:p>
        </p:txBody>
      </p:sp>
      <p:sp>
        <p:nvSpPr>
          <p:cNvPr id="7" name="解释与测试相互对应。&#10;端到端工具、开发和工作台&#10;已有协作与接入设计。">
            <a:extLst xmlns:a="http://schemas.openxmlformats.org/drawingml/2006/main">
              <a:ext uri="{FF2B5EF4-FFF2-40B4-BE49-F238E27FC236}">
                <a16:creationId xmlns:a16="http://schemas.microsoft.com/office/drawing/2014/main" id="{1725A6CD-DE59-4E3E-9708-C34C907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29075"/>
            <a:ext cx="3333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解释与测试相互对应。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端到端工具、开发和工作台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已有协作与接入设计。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3AAB644B-1B0F-49CF-BA26-F7963281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3051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5925" b="1">
                <a:solidFill>
                  <a:srgbClr val="93999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925" b="1">
                <a:solidFill>
                  <a:srgbClr val="939995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9" name="正在深化的问题">
            <a:extLst xmlns:a="http://schemas.openxmlformats.org/drawingml/2006/main">
              <a:ext uri="{FF2B5EF4-FFF2-40B4-BE49-F238E27FC236}">
                <a16:creationId xmlns:a16="http://schemas.microsoft.com/office/drawing/2014/main" id="{8E476856-B827-48C0-85D7-7A7787B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86125"/>
            <a:ext cx="3324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正在深化的问题</a:t>
            </a:r>
          </a:p>
        </p:txBody>
      </p:sp>
      <p:sp>
        <p:nvSpPr>
          <p:cNvPr id="10" name="调度专题已形成方法。&#10;由实际过程研究产品与&#10;对应 EMAP 的执行关系。">
            <a:extLst xmlns:a="http://schemas.openxmlformats.org/drawingml/2006/main">
              <a:ext uri="{FF2B5EF4-FFF2-40B4-BE49-F238E27FC236}">
                <a16:creationId xmlns:a16="http://schemas.microsoft.com/office/drawing/2014/main" id="{4425316F-59EF-4E2F-8814-8EBE8E6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29075"/>
            <a:ext cx="3333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调度专题已形成方法。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由实际过程研究产品与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对应 EMAP 的执行关系。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8A7BD-3DDE-4233-8A6A-669F983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2" name="阶段成果包括已运行能力和已形成的方法，具体产品覆盖按案例说明。">
            <a:extLst xmlns:a="http://schemas.openxmlformats.org/drawingml/2006/main">
              <a:ext uri="{FF2B5EF4-FFF2-40B4-BE49-F238E27FC236}">
                <a16:creationId xmlns:a16="http://schemas.microsoft.com/office/drawing/2014/main" id="{3D1685DF-440A-402B-AFDF-31DDF914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阶段成果包括已运行能力和已形成的方法，具体产品覆盖按案例说明。</a:t>
            </a:r>
          </a:p>
        </p:txBody>
      </p:sp>
      <p:sp>
        <p:nvSpPr>
          <p:cNvPr id="13" name="11">
            <a:extLst xmlns:a="http://schemas.openxmlformats.org/drawingml/2006/main">
              <a:ext uri="{FF2B5EF4-FFF2-40B4-BE49-F238E27FC236}">
                <a16:creationId xmlns:a16="http://schemas.microsoft.com/office/drawing/2014/main" id="{C51E7667-1C08-4276-BE7F-AF8494F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6613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成果所体现的能力">
            <a:extLst xmlns:a="http://schemas.openxmlformats.org/drawingml/2006/main">
              <a:ext uri="{FF2B5EF4-FFF2-40B4-BE49-F238E27FC236}">
                <a16:creationId xmlns:a16="http://schemas.microsoft.com/office/drawing/2014/main" id="{9430F19C-03B0-43CE-BC22-3B619C9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成果所体现的能力</a:t>
            </a:r>
          </a:p>
        </p:txBody>
      </p:sp>
      <p:sp>
        <p:nvSpPr>
          <p:cNvPr id="2" name="个人贡献：把业务难题变成可验证的技术任务">
            <a:extLst xmlns:a="http://schemas.openxmlformats.org/drawingml/2006/main">
              <a:ext uri="{FF2B5EF4-FFF2-40B4-BE49-F238E27FC236}">
                <a16:creationId xmlns:a16="http://schemas.microsoft.com/office/drawing/2014/main" id="{B87064D4-E13E-4279-84DB-ABC93988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个人贡献：把业务难题变成可验证的技术任务</a:t>
            </a:r>
          </a:p>
        </p:txBody>
      </p:sp>
      <p:sp>
        <p:nvSpPr>
          <p:cNvPr id="3" name="问题拆解">
            <a:extLst xmlns:a="http://schemas.openxmlformats.org/drawingml/2006/main">
              <a:ext uri="{FF2B5EF4-FFF2-40B4-BE49-F238E27FC236}">
                <a16:creationId xmlns:a16="http://schemas.microsoft.com/office/drawing/2014/main" id="{5BABE7B6-3F64-40D4-A851-2156D60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问题拆解</a:t>
            </a:r>
          </a:p>
        </p:txBody>
      </p:sp>
      <p:sp>
        <p:nvSpPr>
          <p:cNvPr id="4" name="围绕复杂需求，明确要验证的行为、条件和异常。">
            <a:extLst xmlns:a="http://schemas.openxmlformats.org/drawingml/2006/main">
              <a:ext uri="{FF2B5EF4-FFF2-40B4-BE49-F238E27FC236}">
                <a16:creationId xmlns:a16="http://schemas.microsoft.com/office/drawing/2014/main" id="{E7F6D5E1-028E-4F8C-886A-8CFFA7C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43100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围绕复杂需求，明确要验证的行为、条件和异常。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981D-A800-4985-92F9-A61228B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6" name="技术接入">
            <a:extLst xmlns:a="http://schemas.openxmlformats.org/drawingml/2006/main">
              <a:ext uri="{FF2B5EF4-FFF2-40B4-BE49-F238E27FC236}">
                <a16:creationId xmlns:a16="http://schemas.microsoft.com/office/drawing/2014/main" id="{6D2BA29B-FCD9-4259-9AEA-429EE07F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技术接入</a:t>
            </a:r>
          </a:p>
        </p:txBody>
      </p:sp>
      <p:sp>
        <p:nvSpPr>
          <p:cNvPr id="7" name="复用代码分析、原生引擎与浏览器能力，研究适配方式。">
            <a:extLst xmlns:a="http://schemas.openxmlformats.org/drawingml/2006/main">
              <a:ext uri="{FF2B5EF4-FFF2-40B4-BE49-F238E27FC236}">
                <a16:creationId xmlns:a16="http://schemas.microsoft.com/office/drawing/2014/main" id="{9643895F-E6E0-42B7-A216-FD6E1C5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19400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复用代码分析、原生引擎与浏览器能力，研究适配方式。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37C59-2A87-404E-9760-8725BABD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9" name="证据组织">
            <a:extLst xmlns:a="http://schemas.openxmlformats.org/drawingml/2006/main">
              <a:ext uri="{FF2B5EF4-FFF2-40B4-BE49-F238E27FC236}">
                <a16:creationId xmlns:a16="http://schemas.microsoft.com/office/drawing/2014/main" id="{E1413B53-86FB-43F7-A725-4D09476F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证据组织</a:t>
            </a:r>
          </a:p>
        </p:txBody>
      </p:sp>
      <p:sp>
        <p:nvSpPr>
          <p:cNvPr id="10" name="让输入、源码、实际输出和解释有明确的对应关系。">
            <a:extLst xmlns:a="http://schemas.openxmlformats.org/drawingml/2006/main">
              <a:ext uri="{FF2B5EF4-FFF2-40B4-BE49-F238E27FC236}">
                <a16:creationId xmlns:a16="http://schemas.microsoft.com/office/drawing/2014/main" id="{3C527B75-AECB-4F11-979B-FD40DF6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让输入、源码、实际输出和解释有明确的对应关系。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25448-7D68-4B76-9ADF-EA905914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DC1"/>
            </a:solidFill>
          </a:ln>
        </p:spPr>
      </p:sp>
      <p:sp>
        <p:nvSpPr>
          <p:cNvPr id="12" name="系统调查">
            <a:extLst xmlns:a="http://schemas.openxmlformats.org/drawingml/2006/main">
              <a:ext uri="{FF2B5EF4-FFF2-40B4-BE49-F238E27FC236}">
                <a16:creationId xmlns:a16="http://schemas.microsoft.com/office/drawing/2014/main" id="{1EF68807-FF88-420F-B14F-A79D8BB1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系统调查</a:t>
            </a:r>
          </a:p>
        </p:txBody>
      </p:sp>
      <p:sp>
        <p:nvSpPr>
          <p:cNvPr id="13" name="把调度过程与版本、构建和跨模块交接一起研究。">
            <a:extLst xmlns:a="http://schemas.openxmlformats.org/drawingml/2006/main">
              <a:ext uri="{FF2B5EF4-FFF2-40B4-BE49-F238E27FC236}">
                <a16:creationId xmlns:a16="http://schemas.microsoft.com/office/drawing/2014/main" id="{A48C7E87-D2D9-41C6-8651-47881482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8162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把调度过程与版本、构建和跨模块交接一起研究。</a:t>
            </a:r>
          </a:p>
        </p:txBody>
      </p:sp>
      <p:sp>
        <p:nvSpPr>
          <p:cNvPr id="14" name="已有工具承担专业执行，我的工作聚焦问题选择、适配与验证方法。">
            <a:extLst xmlns:a="http://schemas.openxmlformats.org/drawingml/2006/main">
              <a:ext uri="{FF2B5EF4-FFF2-40B4-BE49-F238E27FC236}">
                <a16:creationId xmlns:a16="http://schemas.microsoft.com/office/drawing/2014/main" id="{68369F2F-2552-4D8E-BF01-98CFFE5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已有工具承担专业执行，我的工作聚焦问题选择、适配与验证方法。</a:t>
            </a:r>
          </a:p>
        </p:txBody>
      </p:sp>
      <p:sp>
        <p:nvSpPr>
          <p:cNvPr id="15" name="具体实现分工、采用案例与实际效果待核查 K07。">
            <a:extLst xmlns:a="http://schemas.openxmlformats.org/drawingml/2006/main">
              <a:ext uri="{FF2B5EF4-FFF2-40B4-BE49-F238E27FC236}">
                <a16:creationId xmlns:a16="http://schemas.microsoft.com/office/drawing/2014/main" id="{F3BF00C2-8477-48E4-9BFC-C1FFAD9C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23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具体实现分工、采用案例与实际效果待核查 K07。</a:t>
            </a:r>
          </a:p>
        </p:txBody>
      </p:sp>
      <p:sp>
        <p:nvSpPr>
          <p:cNvPr id="16" name="12">
            <a:extLst xmlns:a="http://schemas.openxmlformats.org/drawingml/2006/main">
              <a:ext uri="{FF2B5EF4-FFF2-40B4-BE49-F238E27FC236}">
                <a16:creationId xmlns:a16="http://schemas.microsoft.com/office/drawing/2014/main" id="{EAC82011-7840-40A5-89FB-60445576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9738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A  待核查">
            <a:extLst xmlns:a="http://schemas.openxmlformats.org/drawingml/2006/main">
              <a:ext uri="{FF2B5EF4-FFF2-40B4-BE49-F238E27FC236}">
                <a16:creationId xmlns:a16="http://schemas.microsoft.com/office/drawing/2014/main" id="{0656DBB7-1E35-4DC1-B010-86A706D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附录 A  待核查</a:t>
            </a:r>
          </a:p>
        </p:txBody>
      </p:sp>
      <p:sp>
        <p:nvSpPr>
          <p:cNvPr id="2" name="案例补充清单">
            <a:extLst xmlns:a="http://schemas.openxmlformats.org/drawingml/2006/main">
              <a:ext uri="{FF2B5EF4-FFF2-40B4-BE49-F238E27FC236}">
                <a16:creationId xmlns:a16="http://schemas.microsoft.com/office/drawing/2014/main" id="{A416469B-9D68-4E05-BA4E-CC22A2C8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案例补充清单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438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7924800"/>
              </a:tblGrid>
              <a:tr h="5429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对应内容</a:t>
                      </a:r>
                    </a:p>
                  </a:txBody>
                  <a:tcPr marL="171450" marR="171450" marT="133350" marB="114300" anchor="ctr">
                    <a:solidFill>
                      <a:srgbClr val="18232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需要补入的代表材料</a:t>
                      </a:r>
                    </a:p>
                  </a:txBody>
                  <a:tcPr marL="171450" marR="171450" marT="133350" marB="114300" anchor="ctr">
                    <a:solidFill>
                      <a:srgbClr val="18232A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K01  代码行为审查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一条真实链路、关键代码位置、核查前后的具体结论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K02  BEH 原生测试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一个图元、输入输出、批次报告与最新 FB／CB 范围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K03  解释与测试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一段实际解释、对应来源和匹配的运行证据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K04  网页路径重放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真实产品使用案例、Trace、日志解析或采用范围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4" name="每个案例讲清：问题是什么，我做了什么，结果凭什么成立。">
            <a:extLst xmlns:a="http://schemas.openxmlformats.org/drawingml/2006/main">
              <a:ext uri="{FF2B5EF4-FFF2-40B4-BE49-F238E27FC236}">
                <a16:creationId xmlns:a16="http://schemas.microsoft.com/office/drawing/2014/main" id="{4D9CDDEF-52F9-4BB2-864D-FE8601B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每个案例讲清：问题是什么，我做了什么，结果凭什么成立。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D5059F50-493B-4770-8B57-DE05F3E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0493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 B  待核查">
            <a:extLst xmlns:a="http://schemas.openxmlformats.org/drawingml/2006/main">
              <a:ext uri="{FF2B5EF4-FFF2-40B4-BE49-F238E27FC236}">
                <a16:creationId xmlns:a16="http://schemas.microsoft.com/office/drawing/2014/main" id="{8986D772-A7F1-45FB-9738-D17A8FAC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C75132"/>
                </a:solidFill>
                <a:latin typeface="Noto Sans CJK SC"/>
                <a:ea typeface="Noto Sans CJK SC"/>
                <a:cs typeface="Noto Sans CJK SC"/>
              </a:rPr>
              <a:t>附录 B  待核查</a:t>
            </a:r>
          </a:p>
        </p:txBody>
      </p:sp>
      <p:sp>
        <p:nvSpPr>
          <p:cNvPr id="2" name="系统进展与贡献核查">
            <a:extLst xmlns:a="http://schemas.openxmlformats.org/drawingml/2006/main">
              <a:ext uri="{FF2B5EF4-FFF2-40B4-BE49-F238E27FC236}">
                <a16:creationId xmlns:a16="http://schemas.microsoft.com/office/drawing/2014/main" id="{E562C020-C12F-4020-8E92-FE66B632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系统进展与贡献核查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7924800"/>
              </a:tblGrid>
              <a:tr h="5429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对应内容</a:t>
                      </a:r>
                    </a:p>
                  </a:txBody>
                  <a:tcPr marL="171450" marR="171450" marT="133350" marB="114300" anchor="ctr">
                    <a:solidFill>
                      <a:srgbClr val="18232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需要核实的当前事实</a:t>
                      </a:r>
                    </a:p>
                  </a:txBody>
                  <a:tcPr marL="171450" marR="171450" marT="133350" marB="114300" anchor="ctr">
                    <a:solidFill>
                      <a:srgbClr val="18232A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K05  端到端与开发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同一业务已接通哪些工具；实际编辑操作、保存重载和工作台页面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K06  调度与问题定位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已确认的机制、关键代码与现场证据；仍未查明的关系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  <a:tr h="9239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K07  个人贡献与效果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3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本人完成内容、同事或团队已有成果、实际采用案例和有记录的收益</a:t>
                      </a:r>
                    </a:p>
                  </a:txBody>
                  <a:tcPr marL="171450" marR="171450" marT="133350" marB="114300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4" name="没有统计依据时，用具体案例说明帮助。&#10;尚未完成的环节，保留准确的阶段表述。">
            <a:extLst xmlns:a="http://schemas.openxmlformats.org/drawingml/2006/main">
              <a:ext uri="{FF2B5EF4-FFF2-40B4-BE49-F238E27FC236}">
                <a16:creationId xmlns:a16="http://schemas.microsoft.com/office/drawing/2014/main" id="{599EB912-6A01-450C-BC96-6021C9AA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没有统计依据时，用具体案例说明帮助。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8232A"/>
                </a:solidFill>
                <a:latin typeface="Noto Sans CJK SC"/>
                <a:ea typeface="Noto Sans CJK SC"/>
                <a:cs typeface="Noto Sans CJK SC"/>
              </a:rPr>
              <a:t>尚未完成的环节，保留准确的阶段表述。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F66535A6-C95C-4613-A1E9-F73ECB8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77173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87557865"/>
      </p:ext>
    </p:extLst>
  </p:cSld>
</p:sld>
</file>

<file path=ppt/theme/theme1.xml><?xml version="1.0" encoding="utf-8"?>
<a:theme xmlns:a="http://schemas.openxmlformats.org/drawingml/2006/main" name="ChatGPT">
  <a:themeElements>
    <a:clrScheme name="痛点攻坚">
      <a:dk1>
        <a:srgbClr val="000000"/>
      </a:dk1>
      <a:lt1>
        <a:srgbClr val="FFFFFF"/>
      </a:lt1>
      <a:dk2>
        <a:srgbClr val="18232A"/>
      </a:dk2>
      <a:lt2>
        <a:srgbClr val="EAE4D9"/>
      </a:lt2>
      <a:accent1>
        <a:srgbClr val="C75132"/>
      </a:accent1>
      <a:accent2>
        <a:srgbClr val="3A6964"/>
      </a:accent2>
      <a:accent3>
        <a:srgbClr val="B59458"/>
      </a:accent3>
      <a:accent4>
        <a:srgbClr val="858E90"/>
      </a:accent4>
      <a:accent5>
        <a:srgbClr val="546A80"/>
      </a:accent5>
      <a:accent6>
        <a:srgbClr val="91836E"/>
      </a:accent6>
      <a:hlink>
        <a:srgbClr val="C75132"/>
      </a:hlink>
      <a:folHlink>
        <a:srgbClr val="3A696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痛点攻坚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2026-09-19T19:28:58.1720000Z</dcterms:created>
  <dcterms:modified xsi:type="dcterms:W3CDTF">2026-09-19T19:28:58.1720000Z</dcterms:modified>
</coreProperties>
</file>